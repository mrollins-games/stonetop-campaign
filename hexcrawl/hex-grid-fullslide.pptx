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33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45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FULL-SLIDE HEX GRID - Place over map (Stonetop anchor)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2900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572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GW-03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72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GW-04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572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GW-05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92124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30452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GW-06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992124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30452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GW-07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92124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30452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GW-08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992124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30452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GW-09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92124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30452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979676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18004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GW-11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979676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18004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GW-12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79676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18004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GW-13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979676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18004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GW-14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979676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18004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GW-15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967228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05556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GW-16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967228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05556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GW-17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967228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05556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GW-18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967228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05556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GW-19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67228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05556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GW-20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954780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93108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GW-21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954780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93108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GW-22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954780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93108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GW-23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954780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93108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GW-24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954780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293108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GW-25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942332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80660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GW-26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942332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280660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GW-27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942332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280660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GW-28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942332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80660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GW-29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942332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280660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GW-30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929884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68212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GW-31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5929884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68212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GW-32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5929884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68212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GW-33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929884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68212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GW-34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5929884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68212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GW-35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17436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55764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GW-36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917436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255764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GW-37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6917436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255764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GW-38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917436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255764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GW-39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917436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255764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GW-40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7904988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43316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GW-41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7904988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243316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GW-42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904988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43316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GW-43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904988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243316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GW-44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904988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243316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GW-45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8892540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9230868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GW-46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8892540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230868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GW-47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8892540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230868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GW-48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8892540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9230868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GW-49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8892540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9230868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GW-50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9880092" y="86326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0218420" y="13419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GW-51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9880092" y="200359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218420" y="248231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GW-52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9880092" y="314391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218420" y="362264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GW-53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9880092" y="428424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218420" y="47629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GW-54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9880092" y="542457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0218420" y="590329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GW-55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10867644" y="293101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1205972" y="77182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GW-56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10867644" y="1433428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1205972" y="1912151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GW-57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10867644" y="2573755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1205972" y="305247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GW-58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10867644" y="3714082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11205972" y="4192805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GW-59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10867644" y="4854409"/>
            <a:ext cx="1316736" cy="1140327"/>
          </a:xfrm>
          <a:prstGeom prst="hexagon">
            <a:avLst/>
          </a:prstGeom>
          <a:ln w="1524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11205972" y="53331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GW-60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45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HEX IDENTIFICATION - Stonetop location highlighted</a:t>
            </a:r>
            <a:endParaRPr lang="en-US" sz="1000" dirty="0"/>
          </a:p>
        </p:txBody>
      </p:sp>
      <p:sp>
        <p:nvSpPr>
          <p:cNvPr id="4" name="Text 2"/>
          <p:cNvSpPr>
            <a:spLocks noChangeAspect="1"/>
          </p:cNvSpPr>
          <p:nvPr/>
        </p:nvSpPr>
        <p:spPr>
          <a:xfrm>
            <a:off x="297182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GW-01</a:t>
            </a:r>
            <a:endParaRPr lang="en-US" sz="650" dirty="0"/>
          </a:p>
        </p:txBody>
      </p:sp>
      <p:sp>
        <p:nvSpPr>
          <p:cNvPr id="6" name="Text 4"/>
          <p:cNvSpPr>
            <a:spLocks noChangeAspect="1"/>
          </p:cNvSpPr>
          <p:nvPr/>
        </p:nvSpPr>
        <p:spPr>
          <a:xfrm>
            <a:off x="297182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GW-02</a:t>
            </a:r>
            <a:endParaRPr lang="en-US" sz="650" dirty="0"/>
          </a:p>
        </p:txBody>
      </p:sp>
      <p:sp>
        <p:nvSpPr>
          <p:cNvPr id="8" name="Text 6"/>
          <p:cNvSpPr>
            <a:spLocks noChangeAspect="1"/>
          </p:cNvSpPr>
          <p:nvPr/>
        </p:nvSpPr>
        <p:spPr>
          <a:xfrm>
            <a:off x="297182" y="362264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GW-03</a:t>
            </a:r>
            <a:endParaRPr lang="en-US" sz="650" dirty="0"/>
          </a:p>
        </p:txBody>
      </p:sp>
      <p:sp>
        <p:nvSpPr>
          <p:cNvPr id="10" name="Text 8"/>
          <p:cNvSpPr>
            <a:spLocks noChangeAspect="1"/>
          </p:cNvSpPr>
          <p:nvPr/>
        </p:nvSpPr>
        <p:spPr>
          <a:xfrm>
            <a:off x="297182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GW-04</a:t>
            </a:r>
            <a:endParaRPr lang="en-US" sz="650" dirty="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508214-2537-70FA-5747-F92CEE59AA27}"/>
              </a:ext>
            </a:extLst>
          </p:cNvPr>
          <p:cNvGrpSpPr/>
          <p:nvPr/>
        </p:nvGrpSpPr>
        <p:grpSpPr>
          <a:xfrm>
            <a:off x="4573" y="867623"/>
            <a:ext cx="1277234" cy="5530918"/>
            <a:chOff x="4573" y="867623"/>
            <a:chExt cx="1277234" cy="5530918"/>
          </a:xfrm>
        </p:grpSpPr>
        <p:sp>
          <p:nvSpPr>
            <p:cNvPr id="3" name="Shape 1"/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>
            <a:spLocks noChangeAspect="1"/>
          </p:cNvSpPr>
          <p:nvPr/>
        </p:nvSpPr>
        <p:spPr>
          <a:xfrm>
            <a:off x="297182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GW-05</a:t>
            </a:r>
            <a:endParaRPr lang="en-US" sz="650" dirty="0"/>
          </a:p>
        </p:txBody>
      </p:sp>
      <p:sp>
        <p:nvSpPr>
          <p:cNvPr id="14" name="Text 12"/>
          <p:cNvSpPr>
            <a:spLocks noChangeAspect="1"/>
          </p:cNvSpPr>
          <p:nvPr/>
        </p:nvSpPr>
        <p:spPr>
          <a:xfrm>
            <a:off x="1284734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GW-06</a:t>
            </a:r>
            <a:endParaRPr lang="en-US" sz="650" dirty="0"/>
          </a:p>
        </p:txBody>
      </p:sp>
      <p:sp>
        <p:nvSpPr>
          <p:cNvPr id="16" name="Text 14"/>
          <p:cNvSpPr>
            <a:spLocks noChangeAspect="1"/>
          </p:cNvSpPr>
          <p:nvPr/>
        </p:nvSpPr>
        <p:spPr>
          <a:xfrm>
            <a:off x="1284734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GW-07</a:t>
            </a:r>
            <a:endParaRPr lang="en-US" sz="650" dirty="0"/>
          </a:p>
        </p:txBody>
      </p:sp>
      <p:sp>
        <p:nvSpPr>
          <p:cNvPr id="18" name="Text 16"/>
          <p:cNvSpPr>
            <a:spLocks noChangeAspect="1"/>
          </p:cNvSpPr>
          <p:nvPr/>
        </p:nvSpPr>
        <p:spPr>
          <a:xfrm>
            <a:off x="1284734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GW-08</a:t>
            </a:r>
            <a:endParaRPr lang="en-US" sz="650" dirty="0"/>
          </a:p>
        </p:txBody>
      </p:sp>
      <p:sp>
        <p:nvSpPr>
          <p:cNvPr id="20" name="Text 18"/>
          <p:cNvSpPr>
            <a:spLocks noChangeAspect="1"/>
          </p:cNvSpPr>
          <p:nvPr/>
        </p:nvSpPr>
        <p:spPr>
          <a:xfrm>
            <a:off x="1284734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GW-09</a:t>
            </a:r>
            <a:endParaRPr lang="en-US" sz="650" dirty="0"/>
          </a:p>
        </p:txBody>
      </p:sp>
      <p:sp>
        <p:nvSpPr>
          <p:cNvPr id="22" name="Text 20"/>
          <p:cNvSpPr>
            <a:spLocks noChangeAspect="1"/>
          </p:cNvSpPr>
          <p:nvPr/>
        </p:nvSpPr>
        <p:spPr>
          <a:xfrm>
            <a:off x="1284734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GW-10</a:t>
            </a:r>
            <a:endParaRPr lang="en-US" sz="650" dirty="0"/>
          </a:p>
        </p:txBody>
      </p:sp>
      <p:sp>
        <p:nvSpPr>
          <p:cNvPr id="24" name="Text 22"/>
          <p:cNvSpPr>
            <a:spLocks noChangeAspect="1"/>
          </p:cNvSpPr>
          <p:nvPr/>
        </p:nvSpPr>
        <p:spPr>
          <a:xfrm>
            <a:off x="2272286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GW-11</a:t>
            </a:r>
            <a:endParaRPr lang="en-US" sz="650" dirty="0"/>
          </a:p>
        </p:txBody>
      </p:sp>
      <p:sp>
        <p:nvSpPr>
          <p:cNvPr id="26" name="Text 24"/>
          <p:cNvSpPr>
            <a:spLocks noChangeAspect="1"/>
          </p:cNvSpPr>
          <p:nvPr/>
        </p:nvSpPr>
        <p:spPr>
          <a:xfrm>
            <a:off x="2272286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GW-12</a:t>
            </a:r>
            <a:endParaRPr lang="en-US" sz="650" dirty="0"/>
          </a:p>
        </p:txBody>
      </p:sp>
      <p:sp>
        <p:nvSpPr>
          <p:cNvPr id="28" name="Text 26"/>
          <p:cNvSpPr>
            <a:spLocks noChangeAspect="1"/>
          </p:cNvSpPr>
          <p:nvPr/>
        </p:nvSpPr>
        <p:spPr>
          <a:xfrm>
            <a:off x="2272286" y="362264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GW-13</a:t>
            </a:r>
            <a:endParaRPr lang="en-US" sz="650" dirty="0"/>
          </a:p>
        </p:txBody>
      </p:sp>
      <p:sp>
        <p:nvSpPr>
          <p:cNvPr id="30" name="Text 28"/>
          <p:cNvSpPr>
            <a:spLocks noChangeAspect="1"/>
          </p:cNvSpPr>
          <p:nvPr/>
        </p:nvSpPr>
        <p:spPr>
          <a:xfrm>
            <a:off x="2272286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GW-14</a:t>
            </a:r>
            <a:endParaRPr lang="en-US" sz="650" dirty="0"/>
          </a:p>
        </p:txBody>
      </p:sp>
      <p:sp>
        <p:nvSpPr>
          <p:cNvPr id="32" name="Text 30"/>
          <p:cNvSpPr>
            <a:spLocks noChangeAspect="1"/>
          </p:cNvSpPr>
          <p:nvPr/>
        </p:nvSpPr>
        <p:spPr>
          <a:xfrm>
            <a:off x="2272286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GW-15</a:t>
            </a:r>
            <a:endParaRPr lang="en-US" sz="650" dirty="0"/>
          </a:p>
        </p:txBody>
      </p:sp>
      <p:sp>
        <p:nvSpPr>
          <p:cNvPr id="34" name="Text 32"/>
          <p:cNvSpPr>
            <a:spLocks noChangeAspect="1"/>
          </p:cNvSpPr>
          <p:nvPr/>
        </p:nvSpPr>
        <p:spPr>
          <a:xfrm>
            <a:off x="3259838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GW-16</a:t>
            </a:r>
            <a:endParaRPr lang="en-US" sz="650" dirty="0"/>
          </a:p>
        </p:txBody>
      </p:sp>
      <p:sp>
        <p:nvSpPr>
          <p:cNvPr id="36" name="Text 34"/>
          <p:cNvSpPr>
            <a:spLocks noChangeAspect="1"/>
          </p:cNvSpPr>
          <p:nvPr/>
        </p:nvSpPr>
        <p:spPr>
          <a:xfrm>
            <a:off x="3259838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GW-17</a:t>
            </a:r>
            <a:endParaRPr lang="en-US" sz="650" dirty="0"/>
          </a:p>
        </p:txBody>
      </p:sp>
      <p:sp>
        <p:nvSpPr>
          <p:cNvPr id="38" name="Text 36"/>
          <p:cNvSpPr>
            <a:spLocks noChangeAspect="1"/>
          </p:cNvSpPr>
          <p:nvPr/>
        </p:nvSpPr>
        <p:spPr>
          <a:xfrm>
            <a:off x="3259838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GW-18</a:t>
            </a:r>
            <a:endParaRPr lang="en-US" sz="650" dirty="0"/>
          </a:p>
        </p:txBody>
      </p:sp>
      <p:sp>
        <p:nvSpPr>
          <p:cNvPr id="40" name="Text 38"/>
          <p:cNvSpPr>
            <a:spLocks noChangeAspect="1"/>
          </p:cNvSpPr>
          <p:nvPr/>
        </p:nvSpPr>
        <p:spPr>
          <a:xfrm>
            <a:off x="3259838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GW-19</a:t>
            </a:r>
            <a:endParaRPr lang="en-US" sz="650" dirty="0"/>
          </a:p>
        </p:txBody>
      </p:sp>
      <p:sp>
        <p:nvSpPr>
          <p:cNvPr id="42" name="Text 40"/>
          <p:cNvSpPr>
            <a:spLocks noChangeAspect="1"/>
          </p:cNvSpPr>
          <p:nvPr/>
        </p:nvSpPr>
        <p:spPr>
          <a:xfrm>
            <a:off x="3259838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GW-20</a:t>
            </a:r>
            <a:endParaRPr lang="en-US" sz="650" dirty="0"/>
          </a:p>
        </p:txBody>
      </p:sp>
      <p:sp>
        <p:nvSpPr>
          <p:cNvPr id="44" name="Text 42"/>
          <p:cNvSpPr>
            <a:spLocks noChangeAspect="1"/>
          </p:cNvSpPr>
          <p:nvPr/>
        </p:nvSpPr>
        <p:spPr>
          <a:xfrm>
            <a:off x="4247390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GW-21</a:t>
            </a:r>
            <a:endParaRPr lang="en-US" sz="650" dirty="0"/>
          </a:p>
        </p:txBody>
      </p:sp>
      <p:sp>
        <p:nvSpPr>
          <p:cNvPr id="46" name="Text 44"/>
          <p:cNvSpPr>
            <a:spLocks noChangeAspect="1"/>
          </p:cNvSpPr>
          <p:nvPr/>
        </p:nvSpPr>
        <p:spPr>
          <a:xfrm>
            <a:off x="4247390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GW-22</a:t>
            </a:r>
            <a:endParaRPr lang="en-US" sz="650" dirty="0"/>
          </a:p>
        </p:txBody>
      </p:sp>
      <p:sp>
        <p:nvSpPr>
          <p:cNvPr id="48" name="Text 46"/>
          <p:cNvSpPr>
            <a:spLocks noChangeAspect="1"/>
          </p:cNvSpPr>
          <p:nvPr/>
        </p:nvSpPr>
        <p:spPr>
          <a:xfrm>
            <a:off x="4247390" y="3576927"/>
            <a:ext cx="709576" cy="2660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B8860B"/>
                </a:solidFill>
              </a:rPr>
              <a:t>GW-23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B8860B"/>
                </a:solidFill>
              </a:rPr>
              <a:t>STONETOP</a:t>
            </a:r>
            <a:endParaRPr lang="en-US" sz="600" dirty="0"/>
          </a:p>
        </p:txBody>
      </p:sp>
      <p:sp>
        <p:nvSpPr>
          <p:cNvPr id="50" name="Text 48"/>
          <p:cNvSpPr>
            <a:spLocks noChangeAspect="1"/>
          </p:cNvSpPr>
          <p:nvPr/>
        </p:nvSpPr>
        <p:spPr>
          <a:xfrm>
            <a:off x="4247390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GW-24</a:t>
            </a:r>
            <a:endParaRPr lang="en-US" sz="650" dirty="0"/>
          </a:p>
        </p:txBody>
      </p:sp>
      <p:sp>
        <p:nvSpPr>
          <p:cNvPr id="52" name="Text 50"/>
          <p:cNvSpPr>
            <a:spLocks noChangeAspect="1"/>
          </p:cNvSpPr>
          <p:nvPr/>
        </p:nvSpPr>
        <p:spPr>
          <a:xfrm>
            <a:off x="4247390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GW-25</a:t>
            </a:r>
            <a:endParaRPr lang="en-US" sz="650" dirty="0"/>
          </a:p>
        </p:txBody>
      </p:sp>
      <p:sp>
        <p:nvSpPr>
          <p:cNvPr id="54" name="Text 52"/>
          <p:cNvSpPr>
            <a:spLocks noChangeAspect="1"/>
          </p:cNvSpPr>
          <p:nvPr/>
        </p:nvSpPr>
        <p:spPr>
          <a:xfrm>
            <a:off x="5234942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GW-26</a:t>
            </a:r>
            <a:endParaRPr lang="en-US" sz="650" dirty="0"/>
          </a:p>
        </p:txBody>
      </p:sp>
      <p:sp>
        <p:nvSpPr>
          <p:cNvPr id="56" name="Text 54"/>
          <p:cNvSpPr>
            <a:spLocks noChangeAspect="1"/>
          </p:cNvSpPr>
          <p:nvPr/>
        </p:nvSpPr>
        <p:spPr>
          <a:xfrm>
            <a:off x="5234942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GW-27</a:t>
            </a:r>
            <a:endParaRPr lang="en-US" sz="650" dirty="0"/>
          </a:p>
        </p:txBody>
      </p:sp>
      <p:sp>
        <p:nvSpPr>
          <p:cNvPr id="58" name="Text 56"/>
          <p:cNvSpPr>
            <a:spLocks noChangeAspect="1"/>
          </p:cNvSpPr>
          <p:nvPr/>
        </p:nvSpPr>
        <p:spPr>
          <a:xfrm>
            <a:off x="5234942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GW-28</a:t>
            </a:r>
            <a:endParaRPr lang="en-US" sz="650" dirty="0"/>
          </a:p>
        </p:txBody>
      </p:sp>
      <p:sp>
        <p:nvSpPr>
          <p:cNvPr id="60" name="Text 58"/>
          <p:cNvSpPr>
            <a:spLocks noChangeAspect="1"/>
          </p:cNvSpPr>
          <p:nvPr/>
        </p:nvSpPr>
        <p:spPr>
          <a:xfrm>
            <a:off x="5234942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GW-29</a:t>
            </a:r>
            <a:endParaRPr lang="en-US" sz="650" dirty="0"/>
          </a:p>
        </p:txBody>
      </p:sp>
      <p:sp>
        <p:nvSpPr>
          <p:cNvPr id="62" name="Text 60"/>
          <p:cNvSpPr>
            <a:spLocks noChangeAspect="1"/>
          </p:cNvSpPr>
          <p:nvPr/>
        </p:nvSpPr>
        <p:spPr>
          <a:xfrm>
            <a:off x="5234942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GW-30</a:t>
            </a:r>
            <a:endParaRPr lang="en-US" sz="650" dirty="0"/>
          </a:p>
        </p:txBody>
      </p:sp>
      <p:sp>
        <p:nvSpPr>
          <p:cNvPr id="64" name="Text 62"/>
          <p:cNvSpPr>
            <a:spLocks noChangeAspect="1"/>
          </p:cNvSpPr>
          <p:nvPr/>
        </p:nvSpPr>
        <p:spPr>
          <a:xfrm>
            <a:off x="6222494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GW-31</a:t>
            </a:r>
            <a:endParaRPr lang="en-US" sz="650" dirty="0"/>
          </a:p>
        </p:txBody>
      </p:sp>
      <p:sp>
        <p:nvSpPr>
          <p:cNvPr id="66" name="Text 64"/>
          <p:cNvSpPr>
            <a:spLocks noChangeAspect="1"/>
          </p:cNvSpPr>
          <p:nvPr/>
        </p:nvSpPr>
        <p:spPr>
          <a:xfrm>
            <a:off x="6222494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GW-32</a:t>
            </a:r>
            <a:endParaRPr lang="en-US" sz="650" dirty="0"/>
          </a:p>
        </p:txBody>
      </p:sp>
      <p:sp>
        <p:nvSpPr>
          <p:cNvPr id="68" name="Text 66"/>
          <p:cNvSpPr>
            <a:spLocks noChangeAspect="1"/>
          </p:cNvSpPr>
          <p:nvPr/>
        </p:nvSpPr>
        <p:spPr>
          <a:xfrm>
            <a:off x="6222494" y="362264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GW-33</a:t>
            </a:r>
            <a:endParaRPr lang="en-US" sz="650" dirty="0"/>
          </a:p>
        </p:txBody>
      </p:sp>
      <p:sp>
        <p:nvSpPr>
          <p:cNvPr id="70" name="Text 68"/>
          <p:cNvSpPr>
            <a:spLocks noChangeAspect="1"/>
          </p:cNvSpPr>
          <p:nvPr/>
        </p:nvSpPr>
        <p:spPr>
          <a:xfrm>
            <a:off x="6222494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GW-34</a:t>
            </a:r>
            <a:endParaRPr lang="en-US" sz="650" dirty="0"/>
          </a:p>
        </p:txBody>
      </p:sp>
      <p:sp>
        <p:nvSpPr>
          <p:cNvPr id="72" name="Text 70"/>
          <p:cNvSpPr>
            <a:spLocks noChangeAspect="1"/>
          </p:cNvSpPr>
          <p:nvPr/>
        </p:nvSpPr>
        <p:spPr>
          <a:xfrm>
            <a:off x="6222494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GW-35</a:t>
            </a:r>
            <a:endParaRPr lang="en-US" sz="650" dirty="0"/>
          </a:p>
        </p:txBody>
      </p:sp>
      <p:sp>
        <p:nvSpPr>
          <p:cNvPr id="74" name="Text 72"/>
          <p:cNvSpPr>
            <a:spLocks noChangeAspect="1"/>
          </p:cNvSpPr>
          <p:nvPr/>
        </p:nvSpPr>
        <p:spPr>
          <a:xfrm>
            <a:off x="7210046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GW-36</a:t>
            </a:r>
            <a:endParaRPr lang="en-US" sz="650" dirty="0"/>
          </a:p>
        </p:txBody>
      </p:sp>
      <p:sp>
        <p:nvSpPr>
          <p:cNvPr id="76" name="Text 74"/>
          <p:cNvSpPr>
            <a:spLocks noChangeAspect="1"/>
          </p:cNvSpPr>
          <p:nvPr/>
        </p:nvSpPr>
        <p:spPr>
          <a:xfrm>
            <a:off x="7210046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GW-37</a:t>
            </a:r>
            <a:endParaRPr lang="en-US" sz="650" dirty="0"/>
          </a:p>
        </p:txBody>
      </p:sp>
      <p:sp>
        <p:nvSpPr>
          <p:cNvPr id="78" name="Text 76"/>
          <p:cNvSpPr>
            <a:spLocks noChangeAspect="1"/>
          </p:cNvSpPr>
          <p:nvPr/>
        </p:nvSpPr>
        <p:spPr>
          <a:xfrm>
            <a:off x="7210046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GW-38</a:t>
            </a:r>
            <a:endParaRPr lang="en-US" sz="650" dirty="0"/>
          </a:p>
        </p:txBody>
      </p:sp>
      <p:sp>
        <p:nvSpPr>
          <p:cNvPr id="80" name="Text 78"/>
          <p:cNvSpPr>
            <a:spLocks noChangeAspect="1"/>
          </p:cNvSpPr>
          <p:nvPr/>
        </p:nvSpPr>
        <p:spPr>
          <a:xfrm>
            <a:off x="7210046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GW-39</a:t>
            </a:r>
            <a:endParaRPr lang="en-US" sz="650" dirty="0"/>
          </a:p>
        </p:txBody>
      </p:sp>
      <p:sp>
        <p:nvSpPr>
          <p:cNvPr id="82" name="Text 80"/>
          <p:cNvSpPr>
            <a:spLocks noChangeAspect="1"/>
          </p:cNvSpPr>
          <p:nvPr/>
        </p:nvSpPr>
        <p:spPr>
          <a:xfrm>
            <a:off x="7210046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GW-40</a:t>
            </a:r>
            <a:endParaRPr lang="en-US" sz="650" dirty="0"/>
          </a:p>
        </p:txBody>
      </p:sp>
      <p:sp>
        <p:nvSpPr>
          <p:cNvPr id="84" name="Text 82"/>
          <p:cNvSpPr>
            <a:spLocks noChangeAspect="1"/>
          </p:cNvSpPr>
          <p:nvPr/>
        </p:nvSpPr>
        <p:spPr>
          <a:xfrm>
            <a:off x="8197598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GW-41</a:t>
            </a:r>
            <a:endParaRPr lang="en-US" sz="650" dirty="0"/>
          </a:p>
        </p:txBody>
      </p:sp>
      <p:sp>
        <p:nvSpPr>
          <p:cNvPr id="86" name="Text 84"/>
          <p:cNvSpPr>
            <a:spLocks noChangeAspect="1"/>
          </p:cNvSpPr>
          <p:nvPr/>
        </p:nvSpPr>
        <p:spPr>
          <a:xfrm>
            <a:off x="8197598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GW-42</a:t>
            </a:r>
            <a:endParaRPr lang="en-US" sz="650" dirty="0"/>
          </a:p>
        </p:txBody>
      </p:sp>
      <p:sp>
        <p:nvSpPr>
          <p:cNvPr id="88" name="Text 86"/>
          <p:cNvSpPr>
            <a:spLocks noChangeAspect="1"/>
          </p:cNvSpPr>
          <p:nvPr/>
        </p:nvSpPr>
        <p:spPr>
          <a:xfrm>
            <a:off x="8197598" y="362264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GW-43</a:t>
            </a:r>
            <a:endParaRPr lang="en-US" sz="650" dirty="0"/>
          </a:p>
        </p:txBody>
      </p:sp>
      <p:sp>
        <p:nvSpPr>
          <p:cNvPr id="90" name="Text 88"/>
          <p:cNvSpPr>
            <a:spLocks noChangeAspect="1"/>
          </p:cNvSpPr>
          <p:nvPr/>
        </p:nvSpPr>
        <p:spPr>
          <a:xfrm>
            <a:off x="8197598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GW-44</a:t>
            </a:r>
            <a:endParaRPr lang="en-US" sz="650" dirty="0"/>
          </a:p>
        </p:txBody>
      </p:sp>
      <p:sp>
        <p:nvSpPr>
          <p:cNvPr id="92" name="Text 90"/>
          <p:cNvSpPr>
            <a:spLocks noChangeAspect="1"/>
          </p:cNvSpPr>
          <p:nvPr/>
        </p:nvSpPr>
        <p:spPr>
          <a:xfrm>
            <a:off x="8197598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GW-45</a:t>
            </a:r>
            <a:endParaRPr lang="en-US" sz="650" dirty="0"/>
          </a:p>
        </p:txBody>
      </p:sp>
      <p:sp>
        <p:nvSpPr>
          <p:cNvPr id="94" name="Text 92"/>
          <p:cNvSpPr>
            <a:spLocks noChangeAspect="1"/>
          </p:cNvSpPr>
          <p:nvPr/>
        </p:nvSpPr>
        <p:spPr>
          <a:xfrm>
            <a:off x="9185150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GW-46</a:t>
            </a:r>
            <a:endParaRPr lang="en-US" sz="650" dirty="0"/>
          </a:p>
        </p:txBody>
      </p:sp>
      <p:sp>
        <p:nvSpPr>
          <p:cNvPr id="96" name="Text 94"/>
          <p:cNvSpPr>
            <a:spLocks noChangeAspect="1"/>
          </p:cNvSpPr>
          <p:nvPr/>
        </p:nvSpPr>
        <p:spPr>
          <a:xfrm>
            <a:off x="9185150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GW-47</a:t>
            </a:r>
            <a:endParaRPr lang="en-US" sz="650" dirty="0"/>
          </a:p>
        </p:txBody>
      </p:sp>
      <p:sp>
        <p:nvSpPr>
          <p:cNvPr id="98" name="Text 96"/>
          <p:cNvSpPr>
            <a:spLocks noChangeAspect="1"/>
          </p:cNvSpPr>
          <p:nvPr/>
        </p:nvSpPr>
        <p:spPr>
          <a:xfrm>
            <a:off x="9185150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GW-48</a:t>
            </a:r>
            <a:endParaRPr lang="en-US" sz="650" dirty="0"/>
          </a:p>
        </p:txBody>
      </p:sp>
      <p:sp>
        <p:nvSpPr>
          <p:cNvPr id="100" name="Text 98"/>
          <p:cNvSpPr>
            <a:spLocks noChangeAspect="1"/>
          </p:cNvSpPr>
          <p:nvPr/>
        </p:nvSpPr>
        <p:spPr>
          <a:xfrm>
            <a:off x="9185150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GW-49</a:t>
            </a:r>
            <a:endParaRPr lang="en-US" sz="650" dirty="0"/>
          </a:p>
        </p:txBody>
      </p:sp>
      <p:sp>
        <p:nvSpPr>
          <p:cNvPr id="102" name="Text 100"/>
          <p:cNvSpPr>
            <a:spLocks noChangeAspect="1"/>
          </p:cNvSpPr>
          <p:nvPr/>
        </p:nvSpPr>
        <p:spPr>
          <a:xfrm>
            <a:off x="9185150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GW-50</a:t>
            </a:r>
            <a:endParaRPr lang="en-US" sz="650" dirty="0"/>
          </a:p>
        </p:txBody>
      </p:sp>
      <p:sp>
        <p:nvSpPr>
          <p:cNvPr id="104" name="Text 102"/>
          <p:cNvSpPr>
            <a:spLocks noChangeAspect="1"/>
          </p:cNvSpPr>
          <p:nvPr/>
        </p:nvSpPr>
        <p:spPr>
          <a:xfrm>
            <a:off x="10172702" y="134199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GW-51</a:t>
            </a:r>
            <a:endParaRPr lang="en-US" sz="650" dirty="0"/>
          </a:p>
        </p:txBody>
      </p:sp>
      <p:sp>
        <p:nvSpPr>
          <p:cNvPr id="106" name="Text 104"/>
          <p:cNvSpPr>
            <a:spLocks noChangeAspect="1"/>
          </p:cNvSpPr>
          <p:nvPr/>
        </p:nvSpPr>
        <p:spPr>
          <a:xfrm>
            <a:off x="10172702" y="248232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GW-52</a:t>
            </a:r>
            <a:endParaRPr lang="en-US" sz="650" dirty="0"/>
          </a:p>
        </p:txBody>
      </p:sp>
      <p:sp>
        <p:nvSpPr>
          <p:cNvPr id="108" name="Text 106"/>
          <p:cNvSpPr>
            <a:spLocks noChangeAspect="1"/>
          </p:cNvSpPr>
          <p:nvPr/>
        </p:nvSpPr>
        <p:spPr>
          <a:xfrm>
            <a:off x="10172702" y="362264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GW-53</a:t>
            </a:r>
            <a:endParaRPr lang="en-US" sz="650" dirty="0"/>
          </a:p>
        </p:txBody>
      </p:sp>
      <p:sp>
        <p:nvSpPr>
          <p:cNvPr id="110" name="Text 108"/>
          <p:cNvSpPr>
            <a:spLocks noChangeAspect="1"/>
          </p:cNvSpPr>
          <p:nvPr/>
        </p:nvSpPr>
        <p:spPr>
          <a:xfrm>
            <a:off x="10172702" y="4762974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GW-54</a:t>
            </a:r>
            <a:endParaRPr lang="en-US" sz="650" dirty="0"/>
          </a:p>
        </p:txBody>
      </p:sp>
      <p:sp>
        <p:nvSpPr>
          <p:cNvPr id="112" name="Text 110"/>
          <p:cNvSpPr>
            <a:spLocks noChangeAspect="1"/>
          </p:cNvSpPr>
          <p:nvPr/>
        </p:nvSpPr>
        <p:spPr>
          <a:xfrm>
            <a:off x="10172702" y="590330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GW-55</a:t>
            </a:r>
            <a:endParaRPr lang="en-US" sz="650" dirty="0"/>
          </a:p>
        </p:txBody>
      </p:sp>
      <p:sp>
        <p:nvSpPr>
          <p:cNvPr id="114" name="Text 112"/>
          <p:cNvSpPr>
            <a:spLocks noChangeAspect="1"/>
          </p:cNvSpPr>
          <p:nvPr/>
        </p:nvSpPr>
        <p:spPr>
          <a:xfrm>
            <a:off x="11160254" y="77183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GW-56</a:t>
            </a:r>
            <a:endParaRPr lang="en-US" sz="650" dirty="0"/>
          </a:p>
        </p:txBody>
      </p:sp>
      <p:sp>
        <p:nvSpPr>
          <p:cNvPr id="116" name="Text 114"/>
          <p:cNvSpPr>
            <a:spLocks noChangeAspect="1"/>
          </p:cNvSpPr>
          <p:nvPr/>
        </p:nvSpPr>
        <p:spPr>
          <a:xfrm>
            <a:off x="11160254" y="1912156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GW-57</a:t>
            </a:r>
            <a:endParaRPr lang="en-US" sz="650" dirty="0"/>
          </a:p>
        </p:txBody>
      </p:sp>
      <p:sp>
        <p:nvSpPr>
          <p:cNvPr id="118" name="Text 116"/>
          <p:cNvSpPr>
            <a:spLocks noChangeAspect="1"/>
          </p:cNvSpPr>
          <p:nvPr/>
        </p:nvSpPr>
        <p:spPr>
          <a:xfrm>
            <a:off x="11160254" y="3052483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GW-58</a:t>
            </a:r>
            <a:endParaRPr lang="en-US" sz="650" dirty="0"/>
          </a:p>
        </p:txBody>
      </p:sp>
      <p:sp>
        <p:nvSpPr>
          <p:cNvPr id="120" name="Text 118"/>
          <p:cNvSpPr>
            <a:spLocks noChangeAspect="1"/>
          </p:cNvSpPr>
          <p:nvPr/>
        </p:nvSpPr>
        <p:spPr>
          <a:xfrm>
            <a:off x="11160254" y="4192810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GW-59</a:t>
            </a:r>
            <a:endParaRPr lang="en-US" sz="650" dirty="0"/>
          </a:p>
        </p:txBody>
      </p:sp>
      <p:sp>
        <p:nvSpPr>
          <p:cNvPr id="122" name="Text 120"/>
          <p:cNvSpPr>
            <a:spLocks noChangeAspect="1"/>
          </p:cNvSpPr>
          <p:nvPr/>
        </p:nvSpPr>
        <p:spPr>
          <a:xfrm>
            <a:off x="11160254" y="5333137"/>
            <a:ext cx="709576" cy="17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3A0A"/>
                </a:solidFill>
              </a:rPr>
              <a:t>GW-60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182880" y="6492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</a:rPr>
              <a:t>Grid: 12x6 = 60 hexes | Hex size: 1.44" x 1.25" | Each = 2hr travel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</a:rPr>
              <a:t>Stonetop anchor: GW-23 (col 5, row 4)</a:t>
            </a:r>
            <a:endParaRPr lang="en-US" sz="800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32CCC68-4957-2004-4F70-306DA15F3B87}"/>
              </a:ext>
            </a:extLst>
          </p:cNvPr>
          <p:cNvGrpSpPr/>
          <p:nvPr/>
        </p:nvGrpSpPr>
        <p:grpSpPr>
          <a:xfrm>
            <a:off x="1000905" y="311157"/>
            <a:ext cx="1277234" cy="5530918"/>
            <a:chOff x="4573" y="867623"/>
            <a:chExt cx="1277234" cy="5530918"/>
          </a:xfrm>
        </p:grpSpPr>
        <p:sp>
          <p:nvSpPr>
            <p:cNvPr id="135" name="Shape 1">
              <a:extLst>
                <a:ext uri="{FF2B5EF4-FFF2-40B4-BE49-F238E27FC236}">
                  <a16:creationId xmlns:a16="http://schemas.microsoft.com/office/drawing/2014/main" id="{D7ABC935-4975-9E59-BD6E-3926F17DC2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3">
              <a:extLst>
                <a:ext uri="{FF2B5EF4-FFF2-40B4-BE49-F238E27FC236}">
                  <a16:creationId xmlns:a16="http://schemas.microsoft.com/office/drawing/2014/main" id="{A8FF5254-8C20-8D84-85FB-0C56C57EEF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5">
              <a:extLst>
                <a:ext uri="{FF2B5EF4-FFF2-40B4-BE49-F238E27FC236}">
                  <a16:creationId xmlns:a16="http://schemas.microsoft.com/office/drawing/2014/main" id="{7F6878CE-6DEA-7983-32C1-13F6D9032B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7">
              <a:extLst>
                <a:ext uri="{FF2B5EF4-FFF2-40B4-BE49-F238E27FC236}">
                  <a16:creationId xmlns:a16="http://schemas.microsoft.com/office/drawing/2014/main" id="{81E317C9-CC30-4A6D-3849-BAC085320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9">
              <a:extLst>
                <a:ext uri="{FF2B5EF4-FFF2-40B4-BE49-F238E27FC236}">
                  <a16:creationId xmlns:a16="http://schemas.microsoft.com/office/drawing/2014/main" id="{CB97BD94-B4B8-392B-2E70-8CDD7C18FF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1D92B5F-9814-C340-0233-0DE7A5034CBD}"/>
              </a:ext>
            </a:extLst>
          </p:cNvPr>
          <p:cNvGrpSpPr/>
          <p:nvPr/>
        </p:nvGrpSpPr>
        <p:grpSpPr>
          <a:xfrm>
            <a:off x="2003090" y="861542"/>
            <a:ext cx="1277234" cy="5530918"/>
            <a:chOff x="4573" y="867623"/>
            <a:chExt cx="1277234" cy="5530918"/>
          </a:xfrm>
        </p:grpSpPr>
        <p:sp>
          <p:nvSpPr>
            <p:cNvPr id="141" name="Shape 1">
              <a:extLst>
                <a:ext uri="{FF2B5EF4-FFF2-40B4-BE49-F238E27FC236}">
                  <a16:creationId xmlns:a16="http://schemas.microsoft.com/office/drawing/2014/main" id="{3021CC00-38C5-D159-0BA1-F2A48A61A2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3">
              <a:extLst>
                <a:ext uri="{FF2B5EF4-FFF2-40B4-BE49-F238E27FC236}">
                  <a16:creationId xmlns:a16="http://schemas.microsoft.com/office/drawing/2014/main" id="{E2F62378-C539-C4DF-136A-AA51E95456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5">
              <a:extLst>
                <a:ext uri="{FF2B5EF4-FFF2-40B4-BE49-F238E27FC236}">
                  <a16:creationId xmlns:a16="http://schemas.microsoft.com/office/drawing/2014/main" id="{A70EA268-6BE3-582F-7994-FD48ACE7E7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7">
              <a:extLst>
                <a:ext uri="{FF2B5EF4-FFF2-40B4-BE49-F238E27FC236}">
                  <a16:creationId xmlns:a16="http://schemas.microsoft.com/office/drawing/2014/main" id="{1A489B39-0533-7786-DD26-44521CC978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9">
              <a:extLst>
                <a:ext uri="{FF2B5EF4-FFF2-40B4-BE49-F238E27FC236}">
                  <a16:creationId xmlns:a16="http://schemas.microsoft.com/office/drawing/2014/main" id="{5E24A002-5662-EABE-9C0C-FBDD809B9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9DC654C-B28C-176B-78EF-C2C7011044AA}"/>
              </a:ext>
            </a:extLst>
          </p:cNvPr>
          <p:cNvGrpSpPr/>
          <p:nvPr/>
        </p:nvGrpSpPr>
        <p:grpSpPr>
          <a:xfrm>
            <a:off x="3005275" y="305076"/>
            <a:ext cx="1277234" cy="5530918"/>
            <a:chOff x="4573" y="867623"/>
            <a:chExt cx="1277234" cy="5530918"/>
          </a:xfrm>
        </p:grpSpPr>
        <p:sp>
          <p:nvSpPr>
            <p:cNvPr id="147" name="Shape 1">
              <a:extLst>
                <a:ext uri="{FF2B5EF4-FFF2-40B4-BE49-F238E27FC236}">
                  <a16:creationId xmlns:a16="http://schemas.microsoft.com/office/drawing/2014/main" id="{A9361188-E6FA-A1A9-5720-4BBF5F6A62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3">
              <a:extLst>
                <a:ext uri="{FF2B5EF4-FFF2-40B4-BE49-F238E27FC236}">
                  <a16:creationId xmlns:a16="http://schemas.microsoft.com/office/drawing/2014/main" id="{7D07AFB4-3DCA-A15F-4FF1-82A405F378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5">
              <a:extLst>
                <a:ext uri="{FF2B5EF4-FFF2-40B4-BE49-F238E27FC236}">
                  <a16:creationId xmlns:a16="http://schemas.microsoft.com/office/drawing/2014/main" id="{32E3AAF1-D64C-2DA0-0DB6-8E34FE7686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AB2156F3-B770-3471-557A-7A4E5D0DC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9">
              <a:extLst>
                <a:ext uri="{FF2B5EF4-FFF2-40B4-BE49-F238E27FC236}">
                  <a16:creationId xmlns:a16="http://schemas.microsoft.com/office/drawing/2014/main" id="{E50AB1A2-7EE7-32DC-0CC9-2E0A11BE89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57C11DB1-CAFE-D9D5-982B-A9BDA5160832}"/>
              </a:ext>
            </a:extLst>
          </p:cNvPr>
          <p:cNvGrpSpPr/>
          <p:nvPr/>
        </p:nvGrpSpPr>
        <p:grpSpPr>
          <a:xfrm>
            <a:off x="4008011" y="857999"/>
            <a:ext cx="1277234" cy="5530918"/>
            <a:chOff x="4573" y="867623"/>
            <a:chExt cx="1277234" cy="5530918"/>
          </a:xfrm>
        </p:grpSpPr>
        <p:sp>
          <p:nvSpPr>
            <p:cNvPr id="393" name="Shape 1">
              <a:extLst>
                <a:ext uri="{FF2B5EF4-FFF2-40B4-BE49-F238E27FC236}">
                  <a16:creationId xmlns:a16="http://schemas.microsoft.com/office/drawing/2014/main" id="{2FA3C0CF-1D98-94C0-099B-A05E54411B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Shape 3">
              <a:extLst>
                <a:ext uri="{FF2B5EF4-FFF2-40B4-BE49-F238E27FC236}">
                  <a16:creationId xmlns:a16="http://schemas.microsoft.com/office/drawing/2014/main" id="{637479C1-2D95-9AF7-9243-BED4D5B4E5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Shape 5">
              <a:extLst>
                <a:ext uri="{FF2B5EF4-FFF2-40B4-BE49-F238E27FC236}">
                  <a16:creationId xmlns:a16="http://schemas.microsoft.com/office/drawing/2014/main" id="{BFDB1D79-6179-B4E0-B9E1-4907E85D20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Shape 7">
              <a:extLst>
                <a:ext uri="{FF2B5EF4-FFF2-40B4-BE49-F238E27FC236}">
                  <a16:creationId xmlns:a16="http://schemas.microsoft.com/office/drawing/2014/main" id="{D6C7482B-68B9-5CAA-3A59-00BEEFF5D3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Shape 9">
              <a:extLst>
                <a:ext uri="{FF2B5EF4-FFF2-40B4-BE49-F238E27FC236}">
                  <a16:creationId xmlns:a16="http://schemas.microsoft.com/office/drawing/2014/main" id="{E78502E6-0B2F-B433-081B-F8691AB67C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B50CD23-F3ED-A497-ECE7-3116FB4BAC02}"/>
              </a:ext>
            </a:extLst>
          </p:cNvPr>
          <p:cNvGrpSpPr/>
          <p:nvPr/>
        </p:nvGrpSpPr>
        <p:grpSpPr>
          <a:xfrm>
            <a:off x="5013018" y="306015"/>
            <a:ext cx="1277234" cy="5530918"/>
            <a:chOff x="4573" y="867623"/>
            <a:chExt cx="1277234" cy="5530918"/>
          </a:xfrm>
        </p:grpSpPr>
        <p:sp>
          <p:nvSpPr>
            <p:cNvPr id="399" name="Shape 1">
              <a:extLst>
                <a:ext uri="{FF2B5EF4-FFF2-40B4-BE49-F238E27FC236}">
                  <a16:creationId xmlns:a16="http://schemas.microsoft.com/office/drawing/2014/main" id="{67581747-5961-2887-E645-E09C65E5B3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Shape 3">
              <a:extLst>
                <a:ext uri="{FF2B5EF4-FFF2-40B4-BE49-F238E27FC236}">
                  <a16:creationId xmlns:a16="http://schemas.microsoft.com/office/drawing/2014/main" id="{500513D7-B443-28B3-81F8-017E791DF8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1" name="Shape 5">
              <a:extLst>
                <a:ext uri="{FF2B5EF4-FFF2-40B4-BE49-F238E27FC236}">
                  <a16:creationId xmlns:a16="http://schemas.microsoft.com/office/drawing/2014/main" id="{485E8591-E295-866E-6FA6-554B762213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Shape 7">
              <a:extLst>
                <a:ext uri="{FF2B5EF4-FFF2-40B4-BE49-F238E27FC236}">
                  <a16:creationId xmlns:a16="http://schemas.microsoft.com/office/drawing/2014/main" id="{23593A21-136F-22F9-B53B-3DECAFA56F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3" name="Shape 9">
              <a:extLst>
                <a:ext uri="{FF2B5EF4-FFF2-40B4-BE49-F238E27FC236}">
                  <a16:creationId xmlns:a16="http://schemas.microsoft.com/office/drawing/2014/main" id="{E92B6B7B-3173-E483-0815-9A9916B9B3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786E4770-D2EC-9F4E-0C7F-3DF1A1F108E6}"/>
              </a:ext>
            </a:extLst>
          </p:cNvPr>
          <p:cNvGrpSpPr/>
          <p:nvPr/>
        </p:nvGrpSpPr>
        <p:grpSpPr>
          <a:xfrm>
            <a:off x="6010767" y="856907"/>
            <a:ext cx="1277234" cy="5530918"/>
            <a:chOff x="4573" y="867623"/>
            <a:chExt cx="1277234" cy="5530918"/>
          </a:xfrm>
        </p:grpSpPr>
        <p:sp>
          <p:nvSpPr>
            <p:cNvPr id="405" name="Shape 1">
              <a:extLst>
                <a:ext uri="{FF2B5EF4-FFF2-40B4-BE49-F238E27FC236}">
                  <a16:creationId xmlns:a16="http://schemas.microsoft.com/office/drawing/2014/main" id="{B4179656-9C16-E0DB-8A07-54DBC8855E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Shape 3">
              <a:extLst>
                <a:ext uri="{FF2B5EF4-FFF2-40B4-BE49-F238E27FC236}">
                  <a16:creationId xmlns:a16="http://schemas.microsoft.com/office/drawing/2014/main" id="{5E398794-CD33-7D4F-F8AF-D59DD3A5A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7" name="Shape 5">
              <a:extLst>
                <a:ext uri="{FF2B5EF4-FFF2-40B4-BE49-F238E27FC236}">
                  <a16:creationId xmlns:a16="http://schemas.microsoft.com/office/drawing/2014/main" id="{365BC838-0452-DF9C-D27E-CE81EC954F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Shape 7">
              <a:extLst>
                <a:ext uri="{FF2B5EF4-FFF2-40B4-BE49-F238E27FC236}">
                  <a16:creationId xmlns:a16="http://schemas.microsoft.com/office/drawing/2014/main" id="{6A5C8B67-612D-C741-C75C-DF7872FC4B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Shape 9">
              <a:extLst>
                <a:ext uri="{FF2B5EF4-FFF2-40B4-BE49-F238E27FC236}">
                  <a16:creationId xmlns:a16="http://schemas.microsoft.com/office/drawing/2014/main" id="{D7293B92-5CDA-5A16-30C2-743C4E9E55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C67F341B-83B9-B9F4-A52F-824234E69799}"/>
              </a:ext>
            </a:extLst>
          </p:cNvPr>
          <p:cNvGrpSpPr/>
          <p:nvPr/>
        </p:nvGrpSpPr>
        <p:grpSpPr>
          <a:xfrm>
            <a:off x="7012253" y="308348"/>
            <a:ext cx="1277234" cy="5530918"/>
            <a:chOff x="4573" y="867623"/>
            <a:chExt cx="1277234" cy="5530918"/>
          </a:xfrm>
        </p:grpSpPr>
        <p:sp>
          <p:nvSpPr>
            <p:cNvPr id="411" name="Shape 1">
              <a:extLst>
                <a:ext uri="{FF2B5EF4-FFF2-40B4-BE49-F238E27FC236}">
                  <a16:creationId xmlns:a16="http://schemas.microsoft.com/office/drawing/2014/main" id="{E6C8F598-3710-359B-3E87-CC4DE98958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Shape 3">
              <a:extLst>
                <a:ext uri="{FF2B5EF4-FFF2-40B4-BE49-F238E27FC236}">
                  <a16:creationId xmlns:a16="http://schemas.microsoft.com/office/drawing/2014/main" id="{DDAC6B7D-91ED-8B37-80A8-7092C0623A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Shape 5">
              <a:extLst>
                <a:ext uri="{FF2B5EF4-FFF2-40B4-BE49-F238E27FC236}">
                  <a16:creationId xmlns:a16="http://schemas.microsoft.com/office/drawing/2014/main" id="{F06A03C2-1994-37DC-81A0-48CDED0563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Shape 7">
              <a:extLst>
                <a:ext uri="{FF2B5EF4-FFF2-40B4-BE49-F238E27FC236}">
                  <a16:creationId xmlns:a16="http://schemas.microsoft.com/office/drawing/2014/main" id="{6BE8B80A-0687-C808-AFC3-3192221ABC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Shape 9">
              <a:extLst>
                <a:ext uri="{FF2B5EF4-FFF2-40B4-BE49-F238E27FC236}">
                  <a16:creationId xmlns:a16="http://schemas.microsoft.com/office/drawing/2014/main" id="{3BE5B042-8023-C3DB-277B-A9F91843AF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3CC692F5-574F-CAF8-4BB4-D2AE34D0BB07}"/>
              </a:ext>
            </a:extLst>
          </p:cNvPr>
          <p:cNvGrpSpPr/>
          <p:nvPr/>
        </p:nvGrpSpPr>
        <p:grpSpPr>
          <a:xfrm>
            <a:off x="8013739" y="855628"/>
            <a:ext cx="1277234" cy="5530918"/>
            <a:chOff x="4573" y="867623"/>
            <a:chExt cx="1277234" cy="5530918"/>
          </a:xfrm>
        </p:grpSpPr>
        <p:sp>
          <p:nvSpPr>
            <p:cNvPr id="417" name="Shape 1">
              <a:extLst>
                <a:ext uri="{FF2B5EF4-FFF2-40B4-BE49-F238E27FC236}">
                  <a16:creationId xmlns:a16="http://schemas.microsoft.com/office/drawing/2014/main" id="{4A9061F9-13C6-BCB7-775D-C4226199E6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Shape 3">
              <a:extLst>
                <a:ext uri="{FF2B5EF4-FFF2-40B4-BE49-F238E27FC236}">
                  <a16:creationId xmlns:a16="http://schemas.microsoft.com/office/drawing/2014/main" id="{E6DAF79D-E50B-3934-A8C9-6375684C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" name="Shape 5">
              <a:extLst>
                <a:ext uri="{FF2B5EF4-FFF2-40B4-BE49-F238E27FC236}">
                  <a16:creationId xmlns:a16="http://schemas.microsoft.com/office/drawing/2014/main" id="{CB94655C-7062-46C1-F141-0B80FBF76E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" name="Shape 7">
              <a:extLst>
                <a:ext uri="{FF2B5EF4-FFF2-40B4-BE49-F238E27FC236}">
                  <a16:creationId xmlns:a16="http://schemas.microsoft.com/office/drawing/2014/main" id="{FC817CCC-1F4F-DE57-72E9-F5F9360801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" name="Shape 9">
              <a:extLst>
                <a:ext uri="{FF2B5EF4-FFF2-40B4-BE49-F238E27FC236}">
                  <a16:creationId xmlns:a16="http://schemas.microsoft.com/office/drawing/2014/main" id="{1F191E44-2577-3274-9E2E-D6491ACEB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A283EC52-2F6A-4279-041D-0E40E11FEDEB}"/>
              </a:ext>
            </a:extLst>
          </p:cNvPr>
          <p:cNvGrpSpPr/>
          <p:nvPr/>
        </p:nvGrpSpPr>
        <p:grpSpPr>
          <a:xfrm>
            <a:off x="9015225" y="305627"/>
            <a:ext cx="1277234" cy="5530918"/>
            <a:chOff x="4573" y="867623"/>
            <a:chExt cx="1277234" cy="5530918"/>
          </a:xfrm>
        </p:grpSpPr>
        <p:sp>
          <p:nvSpPr>
            <p:cNvPr id="423" name="Shape 1">
              <a:extLst>
                <a:ext uri="{FF2B5EF4-FFF2-40B4-BE49-F238E27FC236}">
                  <a16:creationId xmlns:a16="http://schemas.microsoft.com/office/drawing/2014/main" id="{C2D9E332-592C-1CD2-03A2-F7F3766FB4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Shape 3">
              <a:extLst>
                <a:ext uri="{FF2B5EF4-FFF2-40B4-BE49-F238E27FC236}">
                  <a16:creationId xmlns:a16="http://schemas.microsoft.com/office/drawing/2014/main" id="{E995A704-1E2B-68F7-E60D-2964447B9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" name="Shape 5">
              <a:extLst>
                <a:ext uri="{FF2B5EF4-FFF2-40B4-BE49-F238E27FC236}">
                  <a16:creationId xmlns:a16="http://schemas.microsoft.com/office/drawing/2014/main" id="{1E721EE8-1DC1-61E1-3EBB-EEC47550A8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Shape 7">
              <a:extLst>
                <a:ext uri="{FF2B5EF4-FFF2-40B4-BE49-F238E27FC236}">
                  <a16:creationId xmlns:a16="http://schemas.microsoft.com/office/drawing/2014/main" id="{13CB0C9D-683F-702F-FD42-CED8592303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" name="Shape 9">
              <a:extLst>
                <a:ext uri="{FF2B5EF4-FFF2-40B4-BE49-F238E27FC236}">
                  <a16:creationId xmlns:a16="http://schemas.microsoft.com/office/drawing/2014/main" id="{F08E4613-8E4A-95FC-AD46-5A4A5D1DF6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8CD95CD-6B99-E903-D31C-CAB177D7D6B1}"/>
              </a:ext>
            </a:extLst>
          </p:cNvPr>
          <p:cNvGrpSpPr/>
          <p:nvPr/>
        </p:nvGrpSpPr>
        <p:grpSpPr>
          <a:xfrm>
            <a:off x="10016711" y="848553"/>
            <a:ext cx="1277234" cy="5530918"/>
            <a:chOff x="4573" y="867623"/>
            <a:chExt cx="1277234" cy="5530918"/>
          </a:xfrm>
        </p:grpSpPr>
        <p:sp>
          <p:nvSpPr>
            <p:cNvPr id="429" name="Shape 1">
              <a:extLst>
                <a:ext uri="{FF2B5EF4-FFF2-40B4-BE49-F238E27FC236}">
                  <a16:creationId xmlns:a16="http://schemas.microsoft.com/office/drawing/2014/main" id="{34C2918E-036A-2766-BB4B-9BB8E908EA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Shape 3">
              <a:extLst>
                <a:ext uri="{FF2B5EF4-FFF2-40B4-BE49-F238E27FC236}">
                  <a16:creationId xmlns:a16="http://schemas.microsoft.com/office/drawing/2014/main" id="{DCA15814-FA2D-3887-356F-A80C88C27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" name="Shape 5">
              <a:extLst>
                <a:ext uri="{FF2B5EF4-FFF2-40B4-BE49-F238E27FC236}">
                  <a16:creationId xmlns:a16="http://schemas.microsoft.com/office/drawing/2014/main" id="{C6F74DFF-C260-6929-E740-1C3D75A2D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Shape 7">
              <a:extLst>
                <a:ext uri="{FF2B5EF4-FFF2-40B4-BE49-F238E27FC236}">
                  <a16:creationId xmlns:a16="http://schemas.microsoft.com/office/drawing/2014/main" id="{C3153B43-0E1A-509D-4075-BDEFB11C4D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3" name="Shape 9">
              <a:extLst>
                <a:ext uri="{FF2B5EF4-FFF2-40B4-BE49-F238E27FC236}">
                  <a16:creationId xmlns:a16="http://schemas.microsoft.com/office/drawing/2014/main" id="{D99B064A-BFEC-086D-CC35-A10A7E0A03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FCA3292F-C534-51A6-5588-20A3091C00AD}"/>
              </a:ext>
            </a:extLst>
          </p:cNvPr>
          <p:cNvGrpSpPr/>
          <p:nvPr/>
        </p:nvGrpSpPr>
        <p:grpSpPr>
          <a:xfrm>
            <a:off x="11018197" y="289846"/>
            <a:ext cx="1277234" cy="5530918"/>
            <a:chOff x="4573" y="867623"/>
            <a:chExt cx="1277234" cy="5530918"/>
          </a:xfrm>
        </p:grpSpPr>
        <p:sp>
          <p:nvSpPr>
            <p:cNvPr id="435" name="Shape 1">
              <a:extLst>
                <a:ext uri="{FF2B5EF4-FFF2-40B4-BE49-F238E27FC236}">
                  <a16:creationId xmlns:a16="http://schemas.microsoft.com/office/drawing/2014/main" id="{AFE914E6-F32C-DA21-4AE6-570285019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867623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Shape 3">
              <a:extLst>
                <a:ext uri="{FF2B5EF4-FFF2-40B4-BE49-F238E27FC236}">
                  <a16:creationId xmlns:a16="http://schemas.microsoft.com/office/drawing/2014/main" id="{E16719B2-DA56-DFC6-B042-80AD927238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1970499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7" name="Shape 5">
              <a:extLst>
                <a:ext uri="{FF2B5EF4-FFF2-40B4-BE49-F238E27FC236}">
                  <a16:creationId xmlns:a16="http://schemas.microsoft.com/office/drawing/2014/main" id="{7A4D12AB-40C8-58A0-B242-6D27F94B91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3079888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Shape 7">
              <a:extLst>
                <a:ext uri="{FF2B5EF4-FFF2-40B4-BE49-F238E27FC236}">
                  <a16:creationId xmlns:a16="http://schemas.microsoft.com/office/drawing/2014/main" id="{84BE2DDF-3E3A-743A-2C0D-51FFF43110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4186156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Shape 9">
              <a:extLst>
                <a:ext uri="{FF2B5EF4-FFF2-40B4-BE49-F238E27FC236}">
                  <a16:creationId xmlns:a16="http://schemas.microsoft.com/office/drawing/2014/main" id="{42E7EBE0-2857-99E9-BAD4-3DE3A59AAA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3" y="5292424"/>
              <a:ext cx="1277234" cy="1106117"/>
            </a:xfrm>
            <a:prstGeom prst="hexagon">
              <a:avLst/>
            </a:prstGeom>
            <a:ln w="1524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45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</a:rPr>
              <a:t>ZONE MAP - Forest vs Plateau</a:t>
            </a:r>
            <a:endParaRPr lang="en-US" sz="1000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13B16EB-7748-E092-C3F5-B89F276184F1}"/>
              </a:ext>
            </a:extLst>
          </p:cNvPr>
          <p:cNvGrpSpPr/>
          <p:nvPr/>
        </p:nvGrpSpPr>
        <p:grpSpPr>
          <a:xfrm>
            <a:off x="4572" y="293101"/>
            <a:ext cx="12179808" cy="6271798"/>
            <a:chOff x="4572" y="293101"/>
            <a:chExt cx="12179808" cy="6271798"/>
          </a:xfrm>
        </p:grpSpPr>
        <p:sp>
          <p:nvSpPr>
            <p:cNvPr id="3" name="Shape 1"/>
            <p:cNvSpPr/>
            <p:nvPr/>
          </p:nvSpPr>
          <p:spPr>
            <a:xfrm>
              <a:off x="4572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342900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GW-01</a:t>
              </a:r>
              <a:endParaRPr lang="en-US" sz="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342900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GW-02</a:t>
              </a:r>
              <a:endParaRPr lang="en-US" sz="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72" y="3143918"/>
              <a:ext cx="1316736" cy="1140327"/>
            </a:xfrm>
            <a:prstGeom prst="hexagon">
              <a:avLst/>
            </a:prstGeom>
            <a:solidFill>
              <a:srgbClr val="8B7355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42900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GW-03</a:t>
              </a:r>
              <a:endParaRPr lang="en-US" sz="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2" y="4284245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342900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GW-04</a:t>
              </a:r>
              <a:endParaRPr lang="en-US" sz="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572" y="5424572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42900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GW-05</a:t>
              </a:r>
              <a:endParaRPr lang="en-US" sz="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992124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330452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GW-06</a:t>
              </a:r>
              <a:endParaRPr lang="en-US" sz="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992124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1330452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GW-07</a:t>
              </a:r>
              <a:endParaRPr lang="en-US" sz="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992124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1330452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GW-08</a:t>
              </a:r>
              <a:endParaRPr lang="en-US" sz="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92124" y="3714082"/>
              <a:ext cx="1316736" cy="1140327"/>
            </a:xfrm>
            <a:prstGeom prst="hexagon">
              <a:avLst/>
            </a:prstGeom>
            <a:solidFill>
              <a:srgbClr val="8B7355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330452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GW-09</a:t>
              </a:r>
              <a:endParaRPr lang="en-US" sz="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92124" y="4854409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330452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GW-10</a:t>
              </a:r>
              <a:endParaRPr lang="en-US" sz="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979676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318004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GW-11</a:t>
              </a:r>
              <a:endParaRPr lang="en-US" sz="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979676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2318004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GW-12</a:t>
              </a:r>
              <a:endParaRPr lang="en-US" sz="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979676" y="3143918"/>
              <a:ext cx="1316736" cy="1140327"/>
            </a:xfrm>
            <a:prstGeom prst="hexagon">
              <a:avLst/>
            </a:prstGeom>
            <a:solidFill>
              <a:srgbClr val="8B7355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2318004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GW-13</a:t>
              </a:r>
              <a:endParaRPr lang="en-US" sz="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979676" y="4284245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2318004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GW-14</a:t>
              </a:r>
              <a:endParaRPr lang="en-US" sz="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979676" y="5424572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2318004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GW-15</a:t>
              </a:r>
              <a:endParaRPr lang="en-US" sz="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967228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3305556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GW-16</a:t>
              </a:r>
              <a:endParaRPr lang="en-US" sz="6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67228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3305556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GW-17</a:t>
              </a:r>
              <a:endParaRPr lang="en-US" sz="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967228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3305556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GW-18</a:t>
              </a:r>
              <a:endParaRPr lang="en-US" sz="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2967228" y="3714082"/>
              <a:ext cx="1316736" cy="1140327"/>
            </a:xfrm>
            <a:prstGeom prst="hexagon">
              <a:avLst/>
            </a:prstGeom>
            <a:solidFill>
              <a:srgbClr val="8B7355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3305556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GW-19</a:t>
              </a:r>
              <a:endParaRPr lang="en-US" sz="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67228" y="4854409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3305556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GW-20</a:t>
              </a:r>
              <a:endParaRPr lang="en-US" sz="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954780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4293108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GW-21</a:t>
              </a:r>
              <a:endParaRPr lang="en-US" sz="6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3954780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4293108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GW-22</a:t>
              </a:r>
              <a:endParaRPr lang="en-US" sz="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954780" y="3143918"/>
              <a:ext cx="1316736" cy="1140327"/>
            </a:xfrm>
            <a:prstGeom prst="hexagon">
              <a:avLst/>
            </a:prstGeom>
            <a:solidFill>
              <a:srgbClr val="FFD700">
                <a:alpha val="6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4293108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GW-23</a:t>
              </a:r>
              <a:endParaRPr lang="en-US" sz="6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3954780" y="4284245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4293108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GW-24</a:t>
              </a:r>
              <a:endParaRPr lang="en-US" sz="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3954780" y="5424572"/>
              <a:ext cx="1316736" cy="1140327"/>
            </a:xfrm>
            <a:prstGeom prst="hexagon">
              <a:avLst/>
            </a:prstGeom>
            <a:solidFill>
              <a:srgbClr val="DEB887">
                <a:alpha val="30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4293108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GW-25</a:t>
              </a:r>
              <a:endParaRPr lang="en-US" sz="6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4942332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52"/>
            <p:cNvSpPr/>
            <p:nvPr/>
          </p:nvSpPr>
          <p:spPr>
            <a:xfrm>
              <a:off x="5280660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GW-26</a:t>
              </a:r>
              <a:endParaRPr lang="en-US" sz="6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4942332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5280660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GW-27</a:t>
              </a:r>
              <a:endParaRPr lang="en-US" sz="6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4942332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5280660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GW-28</a:t>
              </a:r>
              <a:endParaRPr lang="en-US" sz="6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4942332" y="371408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5280660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GW-29</a:t>
              </a:r>
              <a:endParaRPr lang="en-US" sz="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942332" y="4854409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5280660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GW-30</a:t>
              </a:r>
              <a:endParaRPr lang="en-US" sz="6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5929884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6268212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GW-31</a:t>
              </a:r>
              <a:endParaRPr lang="en-US" sz="6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5929884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64"/>
            <p:cNvSpPr/>
            <p:nvPr/>
          </p:nvSpPr>
          <p:spPr>
            <a:xfrm>
              <a:off x="6268212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GW-32</a:t>
              </a:r>
              <a:endParaRPr lang="en-US" sz="6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929884" y="314391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66"/>
            <p:cNvSpPr/>
            <p:nvPr/>
          </p:nvSpPr>
          <p:spPr>
            <a:xfrm>
              <a:off x="6268212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GW-33</a:t>
              </a:r>
              <a:endParaRPr lang="en-US" sz="6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5929884" y="428424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8"/>
            <p:cNvSpPr/>
            <p:nvPr/>
          </p:nvSpPr>
          <p:spPr>
            <a:xfrm>
              <a:off x="6268212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GW-34</a:t>
              </a:r>
              <a:endParaRPr lang="en-US" sz="6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5929884" y="542457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70"/>
            <p:cNvSpPr/>
            <p:nvPr/>
          </p:nvSpPr>
          <p:spPr>
            <a:xfrm>
              <a:off x="6268212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GW-35</a:t>
              </a:r>
              <a:endParaRPr lang="en-US" sz="6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917436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72"/>
            <p:cNvSpPr/>
            <p:nvPr/>
          </p:nvSpPr>
          <p:spPr>
            <a:xfrm>
              <a:off x="7255764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GW-36</a:t>
              </a:r>
              <a:endParaRPr lang="en-US" sz="6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917436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74"/>
            <p:cNvSpPr/>
            <p:nvPr/>
          </p:nvSpPr>
          <p:spPr>
            <a:xfrm>
              <a:off x="7255764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GW-37</a:t>
              </a:r>
              <a:endParaRPr lang="en-US" sz="6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6917436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76"/>
            <p:cNvSpPr/>
            <p:nvPr/>
          </p:nvSpPr>
          <p:spPr>
            <a:xfrm>
              <a:off x="7255764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GW-38</a:t>
              </a:r>
              <a:endParaRPr lang="en-US" sz="6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6917436" y="371408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78"/>
            <p:cNvSpPr/>
            <p:nvPr/>
          </p:nvSpPr>
          <p:spPr>
            <a:xfrm>
              <a:off x="7255764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GW-39</a:t>
              </a:r>
              <a:endParaRPr lang="en-US" sz="6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6917436" y="4854409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80"/>
            <p:cNvSpPr/>
            <p:nvPr/>
          </p:nvSpPr>
          <p:spPr>
            <a:xfrm>
              <a:off x="7255764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GW-40</a:t>
              </a:r>
              <a:endParaRPr lang="en-US" sz="6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7904988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82"/>
            <p:cNvSpPr/>
            <p:nvPr/>
          </p:nvSpPr>
          <p:spPr>
            <a:xfrm>
              <a:off x="8243316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GW-41</a:t>
              </a:r>
              <a:endParaRPr lang="en-US" sz="6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7904988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84"/>
            <p:cNvSpPr/>
            <p:nvPr/>
          </p:nvSpPr>
          <p:spPr>
            <a:xfrm>
              <a:off x="8243316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GW-42</a:t>
              </a:r>
              <a:endParaRPr lang="en-US" sz="6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7904988" y="314391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86"/>
            <p:cNvSpPr/>
            <p:nvPr/>
          </p:nvSpPr>
          <p:spPr>
            <a:xfrm>
              <a:off x="8243316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GW-43</a:t>
              </a:r>
              <a:endParaRPr lang="en-US" sz="6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7904988" y="428424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 88"/>
            <p:cNvSpPr/>
            <p:nvPr/>
          </p:nvSpPr>
          <p:spPr>
            <a:xfrm>
              <a:off x="8243316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GW-44</a:t>
              </a:r>
              <a:endParaRPr lang="en-US" sz="6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7904988" y="542457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 90"/>
            <p:cNvSpPr/>
            <p:nvPr/>
          </p:nvSpPr>
          <p:spPr>
            <a:xfrm>
              <a:off x="8243316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GW-45</a:t>
              </a:r>
              <a:endParaRPr lang="en-US" sz="6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8892540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92"/>
            <p:cNvSpPr/>
            <p:nvPr/>
          </p:nvSpPr>
          <p:spPr>
            <a:xfrm>
              <a:off x="9230868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GW-46</a:t>
              </a:r>
              <a:endParaRPr lang="en-US" sz="60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892540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94"/>
            <p:cNvSpPr/>
            <p:nvPr/>
          </p:nvSpPr>
          <p:spPr>
            <a:xfrm>
              <a:off x="9230868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GW-47</a:t>
              </a:r>
              <a:endParaRPr lang="en-US" sz="60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8892540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96"/>
            <p:cNvSpPr/>
            <p:nvPr/>
          </p:nvSpPr>
          <p:spPr>
            <a:xfrm>
              <a:off x="9230868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GW-48</a:t>
              </a:r>
              <a:endParaRPr lang="en-US" sz="60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8892540" y="371408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 98"/>
            <p:cNvSpPr/>
            <p:nvPr/>
          </p:nvSpPr>
          <p:spPr>
            <a:xfrm>
              <a:off x="9230868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GW-49</a:t>
              </a:r>
              <a:endParaRPr lang="en-US" sz="6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8892540" y="4854409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100"/>
            <p:cNvSpPr/>
            <p:nvPr/>
          </p:nvSpPr>
          <p:spPr>
            <a:xfrm>
              <a:off x="9230868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GW-50</a:t>
              </a:r>
              <a:endParaRPr lang="en-US" sz="60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9880092" y="86326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102"/>
            <p:cNvSpPr/>
            <p:nvPr/>
          </p:nvSpPr>
          <p:spPr>
            <a:xfrm>
              <a:off x="10218420" y="134198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GW-51</a:t>
              </a:r>
              <a:endParaRPr lang="en-US" sz="6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9880092" y="200359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104"/>
            <p:cNvSpPr/>
            <p:nvPr/>
          </p:nvSpPr>
          <p:spPr>
            <a:xfrm>
              <a:off x="10218420" y="248231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GW-52</a:t>
              </a:r>
              <a:endParaRPr lang="en-US" sz="6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9880092" y="314391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106"/>
            <p:cNvSpPr/>
            <p:nvPr/>
          </p:nvSpPr>
          <p:spPr>
            <a:xfrm>
              <a:off x="10218420" y="362264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GW-53</a:t>
              </a:r>
              <a:endParaRPr lang="en-US" sz="600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9880092" y="428424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108"/>
            <p:cNvSpPr/>
            <p:nvPr/>
          </p:nvSpPr>
          <p:spPr>
            <a:xfrm>
              <a:off x="10218420" y="4762969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GW-54</a:t>
              </a:r>
              <a:endParaRPr lang="en-US" sz="60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9880092" y="542457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110"/>
            <p:cNvSpPr/>
            <p:nvPr/>
          </p:nvSpPr>
          <p:spPr>
            <a:xfrm>
              <a:off x="10218420" y="590329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GW-55</a:t>
              </a:r>
              <a:endParaRPr lang="en-US" sz="60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0867644" y="293101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Text 112"/>
            <p:cNvSpPr/>
            <p:nvPr/>
          </p:nvSpPr>
          <p:spPr>
            <a:xfrm>
              <a:off x="11205972" y="77182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GW-56</a:t>
              </a:r>
              <a:endParaRPr lang="en-US" sz="6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10867644" y="1433428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Text 114"/>
            <p:cNvSpPr/>
            <p:nvPr/>
          </p:nvSpPr>
          <p:spPr>
            <a:xfrm>
              <a:off x="11205972" y="1912151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GW-57</a:t>
              </a:r>
              <a:endParaRPr lang="en-US" sz="6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10867644" y="2573755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 116"/>
            <p:cNvSpPr/>
            <p:nvPr/>
          </p:nvSpPr>
          <p:spPr>
            <a:xfrm>
              <a:off x="11205972" y="3052478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GW-58</a:t>
              </a:r>
              <a:endParaRPr lang="en-US" sz="60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10867644" y="3714082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118"/>
            <p:cNvSpPr/>
            <p:nvPr/>
          </p:nvSpPr>
          <p:spPr>
            <a:xfrm>
              <a:off x="11205972" y="4192805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GW-59</a:t>
              </a:r>
              <a:endParaRPr lang="en-US" sz="60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10867644" y="4854409"/>
              <a:ext cx="1316736" cy="1140327"/>
            </a:xfrm>
            <a:prstGeom prst="hexagon">
              <a:avLst/>
            </a:prstGeom>
            <a:solidFill>
              <a:srgbClr val="228B22">
                <a:alpha val="25000"/>
              </a:srgbClr>
            </a:solidFill>
            <a:ln w="12700">
              <a:solidFill>
                <a:srgbClr val="6B3A0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 120"/>
            <p:cNvSpPr/>
            <p:nvPr/>
          </p:nvSpPr>
          <p:spPr>
            <a:xfrm>
              <a:off x="11205972" y="5333132"/>
              <a:ext cx="6400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6B3A0A"/>
                  </a:solidFill>
                </a:rPr>
                <a:t>GW-60</a:t>
              </a:r>
              <a:endParaRPr lang="en-US" sz="600" dirty="0"/>
            </a:p>
          </p:txBody>
        </p:sp>
      </p:grpSp>
      <p:sp>
        <p:nvSpPr>
          <p:cNvPr id="123" name="Text 121"/>
          <p:cNvSpPr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■ Gold = Stonetop   ■ Green = Great Wood (POIs here)   ■ Brown = Bluff edge   ■ Tan = Plateau (no POIs)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264</Words>
  <Application>Microsoft Office PowerPoint</Application>
  <PresentationFormat>Widescreen</PresentationFormat>
  <Paragraphs>190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Matt Rollins (NAYAMODE INC)</cp:lastModifiedBy>
  <cp:revision>2</cp:revision>
  <dcterms:created xsi:type="dcterms:W3CDTF">2026-06-04T05:11:22Z</dcterms:created>
  <dcterms:modified xsi:type="dcterms:W3CDTF">2026-06-04T05:24:40Z</dcterms:modified>
</cp:coreProperties>
</file>