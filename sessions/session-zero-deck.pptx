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85" r:id="rId4"/>
    <p:sldId id="259" r:id="rId5"/>
    <p:sldId id="261" r:id="rId6"/>
    <p:sldId id="283" r:id="rId7"/>
    <p:sldId id="263" r:id="rId8"/>
    <p:sldId id="264" r:id="rId9"/>
    <p:sldId id="266" r:id="rId10"/>
    <p:sldId id="267" r:id="rId11"/>
    <p:sldId id="276" r:id="rId12"/>
    <p:sldId id="289" r:id="rId13"/>
    <p:sldId id="281" r:id="rId14"/>
    <p:sldId id="268" r:id="rId15"/>
    <p:sldId id="265" r:id="rId16"/>
    <p:sldId id="288" r:id="rId17"/>
    <p:sldId id="29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623509-48A0-4C59-ABB8-6F9D939DCEE9}">
          <p14:sldIdLst>
            <p14:sldId id="256"/>
            <p14:sldId id="258"/>
            <p14:sldId id="285"/>
            <p14:sldId id="259"/>
            <p14:sldId id="261"/>
            <p14:sldId id="283"/>
            <p14:sldId id="263"/>
            <p14:sldId id="264"/>
            <p14:sldId id="266"/>
            <p14:sldId id="267"/>
            <p14:sldId id="276"/>
            <p14:sldId id="289"/>
            <p14:sldId id="281"/>
          </p14:sldIdLst>
        </p14:section>
        <p14:section name="Appendix" id="{33BF34D5-EC20-4ACA-B626-9C7ED6DF2946}">
          <p14:sldIdLst>
            <p14:sldId id="268"/>
            <p14:sldId id="265"/>
            <p14:sldId id="288"/>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8D2"/>
    <a:srgbClr val="A5A5A5"/>
    <a:srgbClr val="2D4A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7" d="100"/>
          <a:sy n="117" d="100"/>
        </p:scale>
        <p:origin x="89" y="3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672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3E1-B8CA-72DD-59BA-B0CA30DFE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1F7FF-9150-4DF2-8DE2-BAAAD96F00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19C610-20BB-772E-CA9F-9C7A4968F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F3A1F-4607-B82D-0073-78D07CC7F5E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76603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BA91D-0004-F64A-0803-C67E8CC76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2A95E-F3C5-4219-1188-41BCB384E4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D02062-2BCA-B952-FB6C-D370B0C22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F05767-D2C2-6947-3482-245BEBCB89B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12846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0" name="Background Art"/>
          <p:cNvPicPr>
            <a:picLocks noChangeAspect="1"/>
          </p:cNvPicPr>
          <p:nvPr/>
        </p:nvPicPr>
        <p:blipFill>
          <a:blip r:embed="rId3"/>
          <a:srcRect t="2128" b="12168"/>
          <a:stretch>
            <a:fillRect/>
          </a:stretch>
        </p:blipFill>
        <p:spPr>
          <a:xfrm>
            <a:off x="0" y="0"/>
            <a:ext cx="12192000" cy="6858000"/>
          </a:xfrm>
          <a:prstGeom prst="rect">
            <a:avLst/>
          </a:prstGeom>
        </p:spPr>
      </p:pic>
      <p:sp>
        <p:nvSpPr>
          <p:cNvPr id="11" name="Overlay"/>
          <p:cNvSpPr/>
          <p:nvPr/>
        </p:nvSpPr>
        <p:spPr>
          <a:xfrm>
            <a:off x="0" y="3200000"/>
            <a:ext cx="12192000" cy="3658000"/>
          </a:xfrm>
          <a:prstGeom prst="rect">
            <a:avLst/>
          </a:prstGeom>
          <a:gradFill>
            <a:gsLst>
              <a:gs pos="0">
                <a:srgbClr val="1A1A1A">
                  <a:alpha val="0"/>
                </a:srgbClr>
              </a:gs>
              <a:gs pos="35000">
                <a:srgbClr val="1A1A1A">
                  <a:alpha val="70000"/>
                </a:srgbClr>
              </a:gs>
              <a:gs pos="100000">
                <a:srgbClr val="1A1A1A">
                  <a:alpha val="88000"/>
                </a:srgbClr>
              </a:gs>
            </a:gsLst>
            <a:lin ang="5400000" scaled="0"/>
          </a:gradFill>
          <a:ln>
            <a:noFill/>
          </a:ln>
          <a:effectLst>
            <a:outerShdw blurRad="40000" dist="20000" dir="5400000" rotWithShape="0">
              <a:srgbClr val="000000">
                <a:alpha val="38000"/>
              </a:srgbClr>
            </a:outerShdw>
          </a:effectLst>
          <a:scene3d>
            <a:camera prst="orthographicFront"/>
            <a:lightRig rig="threePt" dir="t"/>
          </a:scene3d>
          <a:sp3d>
            <a:bevelT w="63500" h="25400"/>
          </a:sp3d>
        </p:spPr>
        <p:txBody>
          <a:bodyPr/>
          <a:lstStyle/>
          <a:p>
            <a:endParaRPr lang="en-US"/>
          </a:p>
        </p:txBody>
      </p:sp>
      <p:sp>
        <p:nvSpPr>
          <p:cNvPr id="3" name="Text 0"/>
          <p:cNvSpPr/>
          <p:nvPr/>
        </p:nvSpPr>
        <p:spPr>
          <a:xfrm>
            <a:off x="558800" y="3900000"/>
            <a:ext cx="10972800" cy="150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7200" b="1" dirty="0">
                <a:solidFill>
                  <a:srgbClr val="F5F0E8"/>
                </a:solidFill>
                <a:latin typeface="Avara" panose="02000503000000000000" pitchFamily="50" charset="0"/>
                <a:ea typeface="Avara" pitchFamily="34" charset="-122"/>
                <a:cs typeface="Avara" pitchFamily="34" charset="-120"/>
              </a:rPr>
              <a:t>STONETOP</a:t>
            </a:r>
            <a:endParaRPr lang="en-US" sz="7200" dirty="0">
              <a:latin typeface="Avara" panose="02000503000000000000" pitchFamily="50" charset="0"/>
            </a:endParaRPr>
          </a:p>
        </p:txBody>
      </p:sp>
      <p:sp>
        <p:nvSpPr>
          <p:cNvPr id="4" name="Text 1"/>
          <p:cNvSpPr/>
          <p:nvPr/>
        </p:nvSpPr>
        <p:spPr>
          <a:xfrm>
            <a:off x="457200" y="5200000"/>
            <a:ext cx="10972800" cy="9144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2400">
                <a:solidFill>
                  <a:srgbClr val="F5F0E8"/>
                </a:solidFill>
                <a:latin typeface="IM Fell English" panose="02000000000000000000" pitchFamily="2" charset="0"/>
                <a:ea typeface="IM Fell English" pitchFamily="34" charset="-122"/>
                <a:cs typeface="IM Fell English" pitchFamily="34" charset="-120"/>
              </a:rPr>
              <a:t>Session Zero — Campaign Kickoff</a:t>
            </a:r>
            <a:endParaRPr lang="en-US" sz="2400" dirty="0">
              <a:latin typeface="Im fell english" panose="020000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71A931-F14D-AE6D-06DF-9199590EE481}"/>
              </a:ext>
            </a:extLst>
          </p:cNvPr>
          <p:cNvPicPr>
            <a:picLocks noChangeAspect="1"/>
          </p:cNvPicPr>
          <p:nvPr/>
        </p:nvPicPr>
        <p:blipFill>
          <a:blip r:embed="rId3"/>
          <a:srcRect t="14374" b="1955"/>
          <a:stretch>
            <a:fillRect/>
          </a:stretch>
        </p:blipFill>
        <p:spPr>
          <a:xfrm>
            <a:off x="0" y="0"/>
            <a:ext cx="12295762" cy="6858000"/>
          </a:xfrm>
          <a:prstGeom prst="rect">
            <a:avLst/>
          </a:prstGeom>
        </p:spPr>
      </p:pic>
      <p:sp>
        <p:nvSpPr>
          <p:cNvPr id="2" name="Text 0"/>
          <p:cNvSpPr/>
          <p:nvPr/>
        </p:nvSpPr>
        <p:spPr>
          <a:xfrm>
            <a:off x="3032586" y="875755"/>
            <a:ext cx="6292000" cy="85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2800" b="1" dirty="0">
                <a:solidFill>
                  <a:srgbClr val="2D4A3E"/>
                </a:solidFill>
                <a:latin typeface="Avara" pitchFamily="34" charset="0"/>
                <a:ea typeface="Avara" pitchFamily="34" charset="-122"/>
                <a:cs typeface="Avara" pitchFamily="34" charset="-120"/>
              </a:rPr>
              <a:t>Content Safety Survey Results</a:t>
            </a:r>
            <a:endParaRPr lang="en-US" sz="2800" dirty="0"/>
          </a:p>
        </p:txBody>
      </p:sp>
      <p:sp>
        <p:nvSpPr>
          <p:cNvPr id="3" name="Text 1"/>
          <p:cNvSpPr/>
          <p:nvPr/>
        </p:nvSpPr>
        <p:spPr>
          <a:xfrm>
            <a:off x="3144051" y="1868285"/>
            <a:ext cx="6292000" cy="120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endParaRPr lang="en-US" sz="1600" dirty="0">
              <a:solidFill>
                <a:srgbClr val="666666"/>
              </a:solidFill>
              <a:latin typeface="Georgia" pitchFamily="34" charset="0"/>
              <a:ea typeface="Georgia" pitchFamily="34" charset="-122"/>
              <a:cs typeface="Georgia" pitchFamily="34" charset="-120"/>
            </a:endParaRPr>
          </a:p>
          <a:p>
            <a:pPr marL="0" indent="0" algn="ctr">
              <a:buNone/>
            </a:pPr>
            <a:r>
              <a:rPr lang="en-US" sz="2400" dirty="0">
                <a:solidFill>
                  <a:srgbClr val="2D4A3E"/>
                </a:solidFill>
                <a:latin typeface="IM Fell English" pitchFamily="34" charset="0"/>
              </a:rPr>
              <a:t>Exclude </a:t>
            </a:r>
            <a:r>
              <a:rPr lang="en-US" sz="1600" dirty="0">
                <a:solidFill>
                  <a:srgbClr val="2D4A3E"/>
                </a:solidFill>
                <a:latin typeface="IM Fell English" pitchFamily="34" charset="0"/>
              </a:rPr>
              <a:t>(not even referred to)</a:t>
            </a:r>
            <a:r>
              <a:rPr lang="en-US" sz="2400" dirty="0">
                <a:solidFill>
                  <a:srgbClr val="2D4A3E"/>
                </a:solidFill>
                <a:latin typeface="IM Fell English" pitchFamily="34" charset="0"/>
              </a:rPr>
              <a:t>: </a:t>
            </a:r>
            <a:r>
              <a:rPr lang="en-US" sz="2000" dirty="0">
                <a:solidFill>
                  <a:srgbClr val="666666"/>
                </a:solidFill>
                <a:latin typeface="IM Fell English" pitchFamily="34" charset="0"/>
              </a:rPr>
              <a:t>Sexual Violence, Incest</a:t>
            </a:r>
          </a:p>
          <a:p>
            <a:pPr algn="ctr"/>
            <a:r>
              <a:rPr lang="en-US" sz="2000" dirty="0">
                <a:solidFill>
                  <a:srgbClr val="2D4A3E"/>
                </a:solidFill>
                <a:latin typeface="IM Fell English" pitchFamily="34" charset="0"/>
              </a:rPr>
              <a:t>Viel </a:t>
            </a:r>
            <a:r>
              <a:rPr lang="en-US" sz="1600" dirty="0">
                <a:solidFill>
                  <a:srgbClr val="2D4A3E"/>
                </a:solidFill>
                <a:latin typeface="IM Fell English" pitchFamily="34" charset="0"/>
              </a:rPr>
              <a:t>(fade to black/offscreen)</a:t>
            </a:r>
            <a:r>
              <a:rPr lang="en-US" sz="2000" dirty="0">
                <a:solidFill>
                  <a:srgbClr val="2D4A3E"/>
                </a:solidFill>
                <a:latin typeface="IM Fell English" pitchFamily="34" charset="0"/>
              </a:rPr>
              <a:t>: </a:t>
            </a:r>
            <a:r>
              <a:rPr lang="en-US" sz="2000" dirty="0">
                <a:solidFill>
                  <a:srgbClr val="666666"/>
                </a:solidFill>
                <a:latin typeface="IM Fell English" pitchFamily="34" charset="0"/>
              </a:rPr>
              <a:t>Sexual Content, Harm to Children, Substance abuse, Childbirth </a:t>
            </a:r>
            <a:endParaRPr lang="en-US" sz="2000" dirty="0"/>
          </a:p>
          <a:p>
            <a:pPr marL="0" indent="0" algn="ctr">
              <a:buNone/>
            </a:pPr>
            <a:endParaRPr lang="en-US" sz="1600" dirty="0"/>
          </a:p>
        </p:txBody>
      </p:sp>
      <p:sp>
        <p:nvSpPr>
          <p:cNvPr id="6" name="Text 1">
            <a:extLst>
              <a:ext uri="{FF2B5EF4-FFF2-40B4-BE49-F238E27FC236}">
                <a16:creationId xmlns:a16="http://schemas.microsoft.com/office/drawing/2014/main" id="{52AF7AC7-96AC-C380-62F5-81B38D99BD80}"/>
              </a:ext>
            </a:extLst>
          </p:cNvPr>
          <p:cNvSpPr/>
          <p:nvPr/>
        </p:nvSpPr>
        <p:spPr>
          <a:xfrm>
            <a:off x="3502990" y="3892430"/>
            <a:ext cx="5574121" cy="120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algn="ctr"/>
            <a:r>
              <a:rPr lang="en-US" sz="1600" dirty="0">
                <a:solidFill>
                  <a:srgbClr val="666666"/>
                </a:solidFill>
                <a:latin typeface="IM Fell English" pitchFamily="34" charset="0"/>
              </a:rPr>
              <a:t>I would like no players to be pro-fascist or pro destruction of society. I think it's fine for NPCs but in today's time I want to punch Nazis not try to redeem them or work with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a:extLst>
            <a:ext uri="{FF2B5EF4-FFF2-40B4-BE49-F238E27FC236}">
              <a16:creationId xmlns:a16="http://schemas.microsoft.com/office/drawing/2014/main" id="{BD4A3838-7E83-18D1-06E3-962BF2CC36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22F7C33-91C8-6E12-4BFC-93CA4281E858}"/>
              </a:ext>
            </a:extLst>
          </p:cNvPr>
          <p:cNvPicPr>
            <a:picLocks noChangeAspect="1"/>
          </p:cNvPicPr>
          <p:nvPr/>
        </p:nvPicPr>
        <p:blipFill>
          <a:blip r:embed="rId3"/>
          <a:srcRect l="10125" t="-7559" r="923" b="24942"/>
          <a:stretch>
            <a:fillRect/>
          </a:stretch>
        </p:blipFill>
        <p:spPr>
          <a:xfrm flipH="1">
            <a:off x="-489" y="-690664"/>
            <a:ext cx="12192488" cy="7548663"/>
          </a:xfrm>
          <a:prstGeom prst="rect">
            <a:avLst/>
          </a:prstGeom>
        </p:spPr>
      </p:pic>
      <p:sp>
        <p:nvSpPr>
          <p:cNvPr id="5" name="Text 1">
            <a:extLst>
              <a:ext uri="{FF2B5EF4-FFF2-40B4-BE49-F238E27FC236}">
                <a16:creationId xmlns:a16="http://schemas.microsoft.com/office/drawing/2014/main" id="{EAFA6872-A7AC-E669-7801-D43EBB5C8322}"/>
              </a:ext>
            </a:extLst>
          </p:cNvPr>
          <p:cNvSpPr/>
          <p:nvPr/>
        </p:nvSpPr>
        <p:spPr>
          <a:xfrm>
            <a:off x="3426521" y="2716629"/>
            <a:ext cx="6726292" cy="3236866"/>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r>
              <a:rPr lang="en-US" sz="1600" dirty="0">
                <a:solidFill>
                  <a:srgbClr val="666666"/>
                </a:solidFill>
                <a:latin typeface="IM Fell English" pitchFamily="34" charset="0"/>
              </a:rPr>
              <a:t>Type "X" in the meeting chat at any time — no explanation needed. When someone posts X:</a:t>
            </a:r>
          </a:p>
          <a:p>
            <a:endParaRPr lang="en-US" sz="1600" dirty="0">
              <a:solidFill>
                <a:srgbClr val="666666"/>
              </a:solidFill>
              <a:latin typeface="IM Fell English" pitchFamily="34" charset="0"/>
            </a:endParaRPr>
          </a:p>
          <a:p>
            <a:r>
              <a:rPr lang="en-US" sz="1600" dirty="0">
                <a:solidFill>
                  <a:srgbClr val="666666"/>
                </a:solidFill>
                <a:latin typeface="IM Fell English" pitchFamily="34" charset="0"/>
              </a:rPr>
              <a:t> 1. GM immediately pauses the scene</a:t>
            </a:r>
          </a:p>
          <a:p>
            <a:r>
              <a:rPr lang="en-US" sz="1600" dirty="0">
                <a:solidFill>
                  <a:srgbClr val="666666"/>
                </a:solidFill>
                <a:latin typeface="IM Fell English" pitchFamily="34" charset="0"/>
              </a:rPr>
              <a:t> 2. No questions asked — we rewind, skip, or fade to black</a:t>
            </a:r>
          </a:p>
          <a:p>
            <a:r>
              <a:rPr lang="en-US" sz="1600" dirty="0">
                <a:solidFill>
                  <a:srgbClr val="666666"/>
                </a:solidFill>
                <a:latin typeface="IM Fell English" pitchFamily="34" charset="0"/>
              </a:rPr>
              <a:t> 3. If you're not comfortable posting publicly, DM the GM privately and I'll pause without identifying who called it</a:t>
            </a:r>
          </a:p>
          <a:p>
            <a:r>
              <a:rPr lang="en-US" sz="1600" dirty="0">
                <a:solidFill>
                  <a:srgbClr val="666666"/>
                </a:solidFill>
                <a:latin typeface="IM Fell English" pitchFamily="34" charset="0"/>
              </a:rPr>
              <a:t> 4. Can also be used after a session: "Hey, that scene last week — X that for going forward"</a:t>
            </a:r>
          </a:p>
          <a:p>
            <a:endParaRPr lang="en-US" sz="1600" dirty="0">
              <a:solidFill>
                <a:srgbClr val="666666"/>
              </a:solidFill>
              <a:latin typeface="IM Fell English" pitchFamily="34" charset="0"/>
            </a:endParaRPr>
          </a:p>
          <a:p>
            <a:r>
              <a:rPr lang="en-US" sz="1600" dirty="0">
                <a:solidFill>
                  <a:srgbClr val="666666"/>
                </a:solidFill>
                <a:latin typeface="IM Fell English" pitchFamily="34" charset="0"/>
              </a:rPr>
              <a:t>The rule: Anyone can X anything, anytime, for any reason. No justification required. No discussion about why. We just move on.</a:t>
            </a:r>
          </a:p>
        </p:txBody>
      </p:sp>
      <p:sp>
        <p:nvSpPr>
          <p:cNvPr id="7" name="Text 0">
            <a:extLst>
              <a:ext uri="{FF2B5EF4-FFF2-40B4-BE49-F238E27FC236}">
                <a16:creationId xmlns:a16="http://schemas.microsoft.com/office/drawing/2014/main" id="{DBC5FD84-A3F3-4E0D-956C-C6792F62ABA6}"/>
              </a:ext>
            </a:extLst>
          </p:cNvPr>
          <p:cNvSpPr/>
          <p:nvPr/>
        </p:nvSpPr>
        <p:spPr>
          <a:xfrm>
            <a:off x="3252079" y="2080638"/>
            <a:ext cx="6292000" cy="85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2400" b="1" dirty="0">
                <a:solidFill>
                  <a:srgbClr val="2D4A3E"/>
                </a:solidFill>
                <a:latin typeface="Avara" pitchFamily="34" charset="0"/>
                <a:ea typeface="Avara" pitchFamily="34" charset="-122"/>
                <a:cs typeface="Avara" pitchFamily="34" charset="-120"/>
              </a:rPr>
              <a:t>Safety Tool</a:t>
            </a:r>
            <a:endParaRPr lang="en-US" sz="2400" dirty="0"/>
          </a:p>
        </p:txBody>
      </p:sp>
    </p:spTree>
    <p:extLst>
      <p:ext uri="{BB962C8B-B14F-4D97-AF65-F5344CB8AC3E}">
        <p14:creationId xmlns:p14="http://schemas.microsoft.com/office/powerpoint/2010/main" val="2721166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pic>
        <p:nvPicPr>
          <p:cNvPr id="104" name="Accent 4"/>
          <p:cNvPicPr>
            <a:picLocks noChangeAspect="1"/>
          </p:cNvPicPr>
          <p:nvPr/>
        </p:nvPicPr>
        <p:blipFill>
          <a:blip r:embed="rId3"/>
          <a:stretch>
            <a:fillRect/>
          </a:stretch>
        </p:blipFill>
        <p:spPr>
          <a:xfrm>
            <a:off x="0" y="0"/>
            <a:ext cx="12192000" cy="6858000"/>
          </a:xfrm>
          <a:prstGeom prst="rect">
            <a:avLst/>
          </a:prstGeom>
        </p:spPr>
      </p:pic>
      <p:pic>
        <p:nvPicPr>
          <p:cNvPr id="200" name="Village Hearth"/>
          <p:cNvPicPr>
            <a:picLocks noChangeAspect="1"/>
          </p:cNvPicPr>
          <p:nvPr/>
        </p:nvPicPr>
        <p:blipFill>
          <a:blip r:embed="rId4"/>
          <a:srcRect t="218" b="218"/>
          <a:stretch>
            <a:fillRect/>
          </a:stretch>
        </p:blipFill>
        <p:spPr>
          <a:xfrm>
            <a:off x="7600000" y="0"/>
            <a:ext cx="4592000" cy="6858000"/>
          </a:xfrm>
          <a:prstGeom prst="rect">
            <a:avLst/>
          </a:prstGeom>
        </p:spPr>
      </p:pic>
      <p:sp>
        <p:nvSpPr>
          <p:cNvPr id="3" name="Text 0"/>
          <p:cNvSpPr/>
          <p:nvPr/>
        </p:nvSpPr>
        <p:spPr>
          <a:xfrm>
            <a:off x="457200" y="274320"/>
            <a:ext cx="7315200" cy="73152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dirty="0">
                <a:solidFill>
                  <a:srgbClr val="2D4A3E"/>
                </a:solidFill>
                <a:latin typeface="Avara" pitchFamily="34" charset="0"/>
                <a:ea typeface="Avara" pitchFamily="34" charset="-122"/>
                <a:cs typeface="Avara" pitchFamily="34" charset="-120"/>
              </a:rPr>
              <a:t>What Are We Excited For?</a:t>
            </a:r>
            <a:endParaRPr lang="en-US" sz="2800" dirty="0"/>
          </a:p>
        </p:txBody>
      </p:sp>
      <p:sp>
        <p:nvSpPr>
          <p:cNvPr id="4" name="Text 1"/>
          <p:cNvSpPr/>
          <p:nvPr/>
        </p:nvSpPr>
        <p:spPr>
          <a:xfrm>
            <a:off x="457200" y="791634"/>
            <a:ext cx="6900000" cy="3657599"/>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285750" indent="-285750">
              <a:spcBef>
                <a:spcPts val="1200"/>
              </a:spcBef>
              <a:buFont typeface="Arial" panose="020B0604020202020204" pitchFamily="34" charset="0"/>
              <a:buChar char="•"/>
            </a:pP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Building out this world </a:t>
            </a:r>
            <a:r>
              <a:rPr lang="en-US" sz="1400" b="1" dirty="0">
                <a:solidFill>
                  <a:schemeClr val="tx1">
                    <a:lumMod val="65000"/>
                    <a:lumOff val="35000"/>
                  </a:schemeClr>
                </a:solidFill>
                <a:latin typeface="IM Fell English" pitchFamily="34" charset="0"/>
                <a:ea typeface="IM Fell English" pitchFamily="34" charset="-122"/>
                <a:cs typeface="IM Fell English" pitchFamily="34" charset="-120"/>
              </a:rPr>
              <a:t>together</a:t>
            </a: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 seeing how the characters learn and grow</a:t>
            </a:r>
          </a:p>
          <a:p>
            <a:pPr marL="285750" indent="-285750">
              <a:spcBef>
                <a:spcPts val="1200"/>
              </a:spcBef>
              <a:buFont typeface="Arial" panose="020B0604020202020204" pitchFamily="34" charset="0"/>
              <a:buChar char="•"/>
            </a:pP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I am most excited for the community building and the </a:t>
            </a:r>
            <a:r>
              <a:rPr lang="en-US" sz="1400" b="1" dirty="0">
                <a:solidFill>
                  <a:schemeClr val="tx1">
                    <a:lumMod val="65000"/>
                    <a:lumOff val="35000"/>
                  </a:schemeClr>
                </a:solidFill>
                <a:latin typeface="IM Fell English" pitchFamily="34" charset="0"/>
                <a:ea typeface="IM Fell English" pitchFamily="34" charset="-122"/>
                <a:cs typeface="IM Fell English" pitchFamily="34" charset="-120"/>
              </a:rPr>
              <a:t>communal struggle </a:t>
            </a: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to survive and thrive. I want to see the players struggle with hard moral choices where failure, even when the intent was genuinely good, results in tangible consequences for the PC, PCs, and even the Stonetop community. I also am excited about the passage of time and the possibility of PCs dying a peaceful death in bed surrounded by loved ones as they pass the torch to a new PC that fits the fiction.</a:t>
            </a:r>
          </a:p>
          <a:p>
            <a:pPr marL="285750" indent="-285750">
              <a:spcBef>
                <a:spcPts val="1200"/>
              </a:spcBef>
              <a:buFont typeface="Arial" panose="020B0604020202020204" pitchFamily="34" charset="0"/>
              <a:buChar char="•"/>
            </a:pP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Interacting with a world that values </a:t>
            </a:r>
            <a:r>
              <a:rPr lang="en-US" sz="1400" b="1" dirty="0">
                <a:solidFill>
                  <a:schemeClr val="tx1">
                    <a:lumMod val="65000"/>
                    <a:lumOff val="35000"/>
                  </a:schemeClr>
                </a:solidFill>
                <a:latin typeface="IM Fell English" pitchFamily="34" charset="0"/>
                <a:ea typeface="IM Fell English" pitchFamily="34" charset="-122"/>
                <a:cs typeface="IM Fell English" pitchFamily="34" charset="-120"/>
              </a:rPr>
              <a:t>other</a:t>
            </a: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 </a:t>
            </a:r>
            <a:r>
              <a:rPr lang="en-US" sz="1400" b="1" dirty="0">
                <a:solidFill>
                  <a:schemeClr val="tx1">
                    <a:lumMod val="65000"/>
                    <a:lumOff val="35000"/>
                  </a:schemeClr>
                </a:solidFill>
                <a:latin typeface="IM Fell English" pitchFamily="34" charset="0"/>
                <a:ea typeface="IM Fell English" pitchFamily="34" charset="-122"/>
                <a:cs typeface="IM Fell English" pitchFamily="34" charset="-120"/>
              </a:rPr>
              <a:t>gameplay pillars </a:t>
            </a:r>
            <a:r>
              <a:rPr lang="en-US" sz="1400" dirty="0">
                <a:solidFill>
                  <a:schemeClr val="tx1">
                    <a:lumMod val="65000"/>
                    <a:lumOff val="35000"/>
                  </a:schemeClr>
                </a:solidFill>
                <a:latin typeface="IM Fell English" pitchFamily="34" charset="0"/>
                <a:ea typeface="IM Fell English" pitchFamily="34" charset="-122"/>
                <a:cs typeface="IM Fell English" pitchFamily="34" charset="-120"/>
              </a:rPr>
              <a:t>beyond exclusively tactical combat and number-goes-up progression</a:t>
            </a:r>
          </a:p>
          <a:p>
            <a:pPr marL="285750" indent="-285750">
              <a:spcBef>
                <a:spcPts val="1200"/>
              </a:spcBef>
              <a:buFont typeface="Arial" panose="020B0604020202020204" pitchFamily="34" charset="0"/>
              <a:buChar char="•"/>
            </a:pPr>
            <a:r>
              <a:rPr lang="en-US" sz="1400" b="1" dirty="0">
                <a:solidFill>
                  <a:schemeClr val="tx1">
                    <a:lumMod val="65000"/>
                    <a:lumOff val="35000"/>
                  </a:schemeClr>
                </a:solidFill>
                <a:latin typeface="IM Fell English" pitchFamily="34" charset="0"/>
                <a:ea typeface="IM Fell English" pitchFamily="34" charset="-122"/>
                <a:cs typeface="IM Fell English" pitchFamily="34" charset="-120"/>
              </a:rPr>
              <a:t>Bookkeeping!</a:t>
            </a:r>
            <a:endParaRPr lang="en-US" sz="1400" b="1" dirty="0">
              <a:solidFill>
                <a:schemeClr val="tx1">
                  <a:lumMod val="65000"/>
                  <a:lumOff val="35000"/>
                </a:schemeClr>
              </a:solidFill>
            </a:endParaRPr>
          </a:p>
        </p:txBody>
      </p:sp>
      <p:sp>
        <p:nvSpPr>
          <p:cNvPr id="5" name="Text 2"/>
          <p:cNvSpPr/>
          <p:nvPr/>
        </p:nvSpPr>
        <p:spPr>
          <a:xfrm>
            <a:off x="574118" y="4449233"/>
            <a:ext cx="6800000" cy="201168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dirty="0">
                <a:solidFill>
                  <a:srgbClr val="2D4A3E"/>
                </a:solidFill>
                <a:latin typeface="IM Fell English" pitchFamily="34" charset="0"/>
              </a:rPr>
              <a:t>Why Play Stonetop:</a:t>
            </a:r>
          </a:p>
          <a:p>
            <a:pPr marL="0" indent="0">
              <a:buNone/>
            </a:pPr>
            <a:endParaRPr lang="en-US" dirty="0">
              <a:solidFill>
                <a:srgbClr val="2D4A3E"/>
              </a:solidFill>
              <a:latin typeface="IM Fell English" pitchFamily="34" charset="0"/>
            </a:endParaRPr>
          </a:p>
          <a:p>
            <a:pPr marL="0" indent="0">
              <a:buNone/>
            </a:pPr>
            <a:r>
              <a:rPr lang="en-US" sz="1600" i="1" dirty="0">
                <a:solidFill>
                  <a:schemeClr val="tx1">
                    <a:lumMod val="65000"/>
                    <a:lumOff val="35000"/>
                  </a:schemeClr>
                </a:solidFill>
                <a:latin typeface="IM Fell English" pitchFamily="34" charset="0"/>
                <a:ea typeface="IM Fell English" pitchFamily="34" charset="-122"/>
                <a:cs typeface="IM Fell English" pitchFamily="34" charset="-120"/>
              </a:rPr>
              <a:t>“Because here, in the real world, our communities are often fractured, broken, disconnected. Because maybe you want to imagine a community that works, one that pulls together and struggles together and looks out for its own. Because play is practice, and practice is how you change yourself, how you change your world.”</a:t>
            </a:r>
            <a:endParaRPr lang="en-US" sz="1600" dirty="0">
              <a:solidFill>
                <a:schemeClr val="tx1">
                  <a:lumMod val="65000"/>
                  <a:lumOff val="3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3629320" y="412728"/>
            <a:ext cx="6604000" cy="73152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dirty="0">
                <a:solidFill>
                  <a:srgbClr val="2D4A3E"/>
                </a:solidFill>
                <a:latin typeface="Avara" pitchFamily="34" charset="0"/>
                <a:ea typeface="Avara" pitchFamily="34" charset="-122"/>
                <a:cs typeface="Avara" pitchFamily="34" charset="-120"/>
              </a:rPr>
              <a:t>Player Principles</a:t>
            </a:r>
            <a:endParaRPr lang="en-US" sz="2800" dirty="0"/>
          </a:p>
        </p:txBody>
      </p:sp>
      <p:sp>
        <p:nvSpPr>
          <p:cNvPr id="3" name="Text 1"/>
          <p:cNvSpPr/>
          <p:nvPr/>
        </p:nvSpPr>
        <p:spPr>
          <a:xfrm>
            <a:off x="3629320" y="1144248"/>
            <a:ext cx="8387936" cy="3198284"/>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nchor="t"/>
          <a:lstStyle/>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Begin and end with the fiction</a:t>
            </a:r>
            <a:r>
              <a:rPr lang="en-US" sz="2000" dirty="0">
                <a:solidFill>
                  <a:schemeClr val="tx1">
                    <a:lumMod val="65000"/>
                    <a:lumOff val="35000"/>
                  </a:schemeClr>
                </a:solidFill>
                <a:latin typeface="IM Fell English" pitchFamily="34" charset="0"/>
                <a:ea typeface="IM Fell English" pitchFamily="34" charset="-122"/>
                <a:cs typeface="IM Fell English" pitchFamily="34" charset="-120"/>
              </a:rPr>
              <a:t>.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Tell us how you do what you do, what it looks like.</a:t>
            </a:r>
            <a:endParaRPr lang="en-US" sz="1600" dirty="0">
              <a:solidFill>
                <a:schemeClr val="tx1">
                  <a:lumMod val="65000"/>
                  <a:lumOff val="35000"/>
                </a:schemeClr>
              </a:solidFill>
            </a:endParaRPr>
          </a:p>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Have goals and pursue them.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Don’t just react to threats that the GM presents.</a:t>
            </a:r>
            <a:endParaRPr lang="en-US" sz="1600" dirty="0">
              <a:solidFill>
                <a:schemeClr val="tx1">
                  <a:lumMod val="65000"/>
                  <a:lumOff val="35000"/>
                </a:schemeClr>
              </a:solidFill>
            </a:endParaRPr>
          </a:p>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Be bold, take risks.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If you don’t act like a hero, who will?</a:t>
            </a:r>
            <a:endParaRPr lang="en-US" sz="1600" dirty="0">
              <a:solidFill>
                <a:schemeClr val="tx1">
                  <a:lumMod val="65000"/>
                  <a:lumOff val="35000"/>
                </a:schemeClr>
              </a:solidFill>
            </a:endParaRPr>
          </a:p>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Embrace difficulty, setback, and failure.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Show us how your character deals with it.</a:t>
            </a:r>
            <a:endParaRPr lang="en-US" sz="1600" dirty="0">
              <a:solidFill>
                <a:schemeClr val="tx1">
                  <a:lumMod val="65000"/>
                  <a:lumOff val="35000"/>
                </a:schemeClr>
              </a:solidFill>
            </a:endParaRPr>
          </a:p>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Participate in worldbuilding.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Answer the GM’s questions with color and life.</a:t>
            </a:r>
            <a:endParaRPr lang="en-US" sz="1600" dirty="0">
              <a:solidFill>
                <a:schemeClr val="tx1">
                  <a:lumMod val="65000"/>
                  <a:lumOff val="35000"/>
                </a:schemeClr>
              </a:solidFill>
            </a:endParaRPr>
          </a:p>
          <a:p>
            <a:pPr marL="457200" indent="-457200">
              <a:lnSpc>
                <a:spcPct val="140000"/>
              </a:lnSpc>
              <a:buFont typeface="Arial" panose="020B0604020202020204" pitchFamily="34" charset="0"/>
              <a:buChar char="•"/>
            </a:pPr>
            <a:r>
              <a:rPr lang="en-US" sz="2000" b="1" dirty="0">
                <a:solidFill>
                  <a:schemeClr val="tx1">
                    <a:lumMod val="65000"/>
                    <a:lumOff val="35000"/>
                  </a:schemeClr>
                </a:solidFill>
                <a:latin typeface="IM Fell English" pitchFamily="34" charset="0"/>
                <a:ea typeface="IM Fell English" pitchFamily="34" charset="-122"/>
                <a:cs typeface="IM Fell English" pitchFamily="34" charset="-120"/>
              </a:rPr>
              <a:t>Build on what others have said</a:t>
            </a:r>
            <a:r>
              <a:rPr lang="en-US" sz="2000" dirty="0">
                <a:solidFill>
                  <a:schemeClr val="tx1">
                    <a:lumMod val="65000"/>
                    <a:lumOff val="35000"/>
                  </a:schemeClr>
                </a:solidFill>
                <a:latin typeface="IM Fell English" pitchFamily="34" charset="0"/>
                <a:ea typeface="IM Fell English" pitchFamily="34" charset="-122"/>
                <a:cs typeface="IM Fell English" pitchFamily="34" charset="-120"/>
              </a:rPr>
              <a:t>. </a:t>
            </a:r>
            <a:r>
              <a:rPr lang="en-US" sz="1600" dirty="0">
                <a:solidFill>
                  <a:schemeClr val="tx1">
                    <a:lumMod val="65000"/>
                    <a:lumOff val="35000"/>
                  </a:schemeClr>
                </a:solidFill>
                <a:latin typeface="IM Fell English" pitchFamily="34" charset="0"/>
                <a:ea typeface="IM Fell English" pitchFamily="34" charset="-122"/>
                <a:cs typeface="IM Fell English" pitchFamily="34" charset="-120"/>
              </a:rPr>
              <a:t>Let yourself be inspired by your fellow players</a:t>
            </a:r>
            <a:endParaRPr lang="en-US" sz="2000" dirty="0">
              <a:solidFill>
                <a:schemeClr val="tx1">
                  <a:lumMod val="65000"/>
                  <a:lumOff val="35000"/>
                </a:schemeClr>
              </a:solidFill>
            </a:endParaRPr>
          </a:p>
        </p:txBody>
      </p:sp>
      <p:pic>
        <p:nvPicPr>
          <p:cNvPr id="7" name="Ward Circle">
            <a:extLst>
              <a:ext uri="{FF2B5EF4-FFF2-40B4-BE49-F238E27FC236}">
                <a16:creationId xmlns:a16="http://schemas.microsoft.com/office/drawing/2014/main" id="{F09B2EEF-1B9B-DD77-45F9-B6CB5A0F1510}"/>
              </a:ext>
            </a:extLst>
          </p:cNvPr>
          <p:cNvPicPr>
            <a:picLocks noChangeAspect="1"/>
          </p:cNvPicPr>
          <p:nvPr/>
        </p:nvPicPr>
        <p:blipFill>
          <a:blip r:embed="rId3">
            <a:alphaModFix amt="18000"/>
          </a:blip>
          <a:srcRect t="4838" r="24746"/>
          <a:stretch>
            <a:fillRect/>
          </a:stretch>
        </p:blipFill>
        <p:spPr>
          <a:xfrm rot="16200000" flipH="1">
            <a:off x="453564" y="2975439"/>
            <a:ext cx="3428999" cy="43361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a:extLst>
            <a:ext uri="{FF2B5EF4-FFF2-40B4-BE49-F238E27FC236}">
              <a16:creationId xmlns:a16="http://schemas.microsoft.com/office/drawing/2014/main" id="{1B8ADAEA-354F-0BD9-F71B-97D0A71DE428}"/>
            </a:ext>
          </a:extLst>
        </p:cNvPr>
        <p:cNvGrpSpPr/>
        <p:nvPr/>
      </p:nvGrpSpPr>
      <p:grpSpPr>
        <a:xfrm>
          <a:off x="0" y="0"/>
          <a:ext cx="0" cy="0"/>
          <a:chOff x="0" y="0"/>
          <a:chExt cx="0" cy="0"/>
        </a:xfrm>
      </p:grpSpPr>
      <p:pic>
        <p:nvPicPr>
          <p:cNvPr id="200" name="Frontier Landscape"/>
          <p:cNvPicPr>
            <a:picLocks noChangeAspect="1"/>
          </p:cNvPicPr>
          <p:nvPr/>
        </p:nvPicPr>
        <p:blipFill>
          <a:blip r:embed="rId3"/>
          <a:srcRect t="218" b="218"/>
          <a:stretch>
            <a:fillRect/>
          </a:stretch>
        </p:blipFill>
        <p:spPr>
          <a:xfrm>
            <a:off x="7600000" y="0"/>
            <a:ext cx="4592000" cy="6858000"/>
          </a:xfrm>
          <a:prstGeom prst="rect">
            <a:avLst/>
          </a:prstGeom>
        </p:spPr>
      </p:pic>
      <p:sp>
        <p:nvSpPr>
          <p:cNvPr id="4" name="Text 0">
            <a:extLst>
              <a:ext uri="{FF2B5EF4-FFF2-40B4-BE49-F238E27FC236}">
                <a16:creationId xmlns:a16="http://schemas.microsoft.com/office/drawing/2014/main" id="{992D19D2-7060-6B89-504F-CE438F80F5DA}"/>
              </a:ext>
            </a:extLst>
          </p:cNvPr>
          <p:cNvSpPr/>
          <p:nvPr/>
        </p:nvSpPr>
        <p:spPr>
          <a:xfrm>
            <a:off x="333829" y="104500"/>
            <a:ext cx="7100000" cy="73152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dirty="0">
                <a:solidFill>
                  <a:srgbClr val="2D4A3E"/>
                </a:solidFill>
                <a:latin typeface="Avara" pitchFamily="34" charset="0"/>
                <a:ea typeface="Avara" pitchFamily="34" charset="-122"/>
                <a:cs typeface="Avara" pitchFamily="34" charset="-120"/>
              </a:rPr>
              <a:t>Expectations</a:t>
            </a:r>
            <a:endParaRPr lang="en-US" sz="2800" dirty="0"/>
          </a:p>
        </p:txBody>
      </p:sp>
      <p:sp>
        <p:nvSpPr>
          <p:cNvPr id="5" name="Text 1">
            <a:extLst>
              <a:ext uri="{FF2B5EF4-FFF2-40B4-BE49-F238E27FC236}">
                <a16:creationId xmlns:a16="http://schemas.microsoft.com/office/drawing/2014/main" id="{1821B314-A641-0FDA-1070-F2E7A9F03F96}"/>
              </a:ext>
            </a:extLst>
          </p:cNvPr>
          <p:cNvSpPr/>
          <p:nvPr/>
        </p:nvSpPr>
        <p:spPr>
          <a:xfrm>
            <a:off x="407363" y="950000"/>
            <a:ext cx="7000637" cy="57500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t"/>
          <a:lstStyle/>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We will play to find out, </a:t>
            </a:r>
            <a:r>
              <a:rPr lang="en-US" sz="1600" b="1" dirty="0">
                <a:solidFill>
                  <a:schemeClr val="tx1">
                    <a:lumMod val="65000"/>
                    <a:lumOff val="35000"/>
                  </a:schemeClr>
                </a:solidFill>
                <a:latin typeface="IM Fell English" pitchFamily="34" charset="0"/>
              </a:rPr>
              <a:t>the story is emergent</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Resources are sparse, </a:t>
            </a:r>
            <a:r>
              <a:rPr lang="en-US" sz="1600" b="1" dirty="0">
                <a:solidFill>
                  <a:schemeClr val="tx1">
                    <a:lumMod val="65000"/>
                    <a:lumOff val="35000"/>
                  </a:schemeClr>
                </a:solidFill>
                <a:latin typeface="IM Fell English" pitchFamily="34" charset="0"/>
              </a:rPr>
              <a:t>there are no lords, folks expect you to contribute and not endanger them</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Combat is deadly.  </a:t>
            </a:r>
            <a:r>
              <a:rPr lang="en-US" sz="1600" b="1" dirty="0">
                <a:solidFill>
                  <a:schemeClr val="tx1">
                    <a:lumMod val="65000"/>
                    <a:lumOff val="35000"/>
                  </a:schemeClr>
                </a:solidFill>
                <a:latin typeface="IM Fell English" pitchFamily="34" charset="0"/>
              </a:rPr>
              <a:t>90% chance someone is going to die/retire/become something worse in the first 10 sessions</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Magic exists but is borrowed </a:t>
            </a:r>
            <a:r>
              <a:rPr lang="en-US" sz="1600" dirty="0">
                <a:solidFill>
                  <a:schemeClr val="tx1">
                    <a:lumMod val="65000"/>
                    <a:lumOff val="35000"/>
                  </a:schemeClr>
                </a:solidFill>
                <a:latin typeface="IM Fell English" pitchFamily="34" charset="0"/>
              </a:rPr>
              <a:t>from greater powers. Mastery comes in knowing how to beseech them and what to offer in return. In a land on the brink, most don’t have much to offer: making </a:t>
            </a:r>
            <a:r>
              <a:rPr lang="en-US" sz="1600" b="1" dirty="0">
                <a:solidFill>
                  <a:srgbClr val="1A1A1A"/>
                </a:solidFill>
                <a:latin typeface="IM Fell English" pitchFamily="34" charset="0"/>
              </a:rPr>
              <a:t>magic rare, scrutinized and distrusted</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The world moves on its own,</a:t>
            </a:r>
            <a:r>
              <a:rPr lang="en-US" sz="1600" dirty="0">
                <a:solidFill>
                  <a:schemeClr val="tx1">
                    <a:lumMod val="65000"/>
                    <a:lumOff val="35000"/>
                  </a:schemeClr>
                </a:solidFill>
                <a:latin typeface="IM Fell English" pitchFamily="34" charset="0"/>
              </a:rPr>
              <a:t> other actors will pursue their own goals and potentially achieve them unless you interrupt them</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Winter is coming</a:t>
            </a:r>
            <a:r>
              <a:rPr lang="en-US" sz="1600" dirty="0">
                <a:solidFill>
                  <a:schemeClr val="tx1">
                    <a:lumMod val="65000"/>
                    <a:lumOff val="35000"/>
                  </a:schemeClr>
                </a:solidFill>
                <a:latin typeface="IM Fell English" pitchFamily="34" charset="0"/>
              </a:rPr>
              <a:t>, expect threats to keep you under pressure BUT when you overcome – expect spoils and the license to leverage them creatively</a:t>
            </a:r>
          </a:p>
          <a:p>
            <a:pPr marL="457200" indent="-457200">
              <a:lnSpc>
                <a:spcPct val="140000"/>
              </a:lnSpc>
              <a:buFont typeface="Arial" panose="020B0604020202020204" pitchFamily="34" charset="0"/>
              <a:buChar char="•"/>
            </a:pPr>
            <a:r>
              <a:rPr lang="en-US" sz="1600" b="1" dirty="0">
                <a:solidFill>
                  <a:srgbClr val="1A1A1A"/>
                </a:solidFill>
                <a:latin typeface="IM Fell English" pitchFamily="34" charset="0"/>
              </a:rPr>
              <a:t>Forget about game mechanics, </a:t>
            </a:r>
            <a:r>
              <a:rPr lang="en-US" sz="1600" dirty="0">
                <a:solidFill>
                  <a:schemeClr val="tx1">
                    <a:lumMod val="65000"/>
                    <a:lumOff val="35000"/>
                  </a:schemeClr>
                </a:solidFill>
                <a:latin typeface="IM Fell English" pitchFamily="34" charset="0"/>
              </a:rPr>
              <a:t>set your own goals and if it fits in the fiction - we will build a path to progress them.</a:t>
            </a:r>
          </a:p>
        </p:txBody>
      </p:sp>
    </p:spTree>
    <p:extLst>
      <p:ext uri="{BB962C8B-B14F-4D97-AF65-F5344CB8AC3E}">
        <p14:creationId xmlns:p14="http://schemas.microsoft.com/office/powerpoint/2010/main" val="805433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10" name="Title"/>
          <p:cNvSpPr txBox="1"/>
          <p:nvPr/>
        </p:nvSpPr>
        <p:spPr>
          <a:xfrm>
            <a:off x="457200" y="182880"/>
            <a:ext cx="7315200" cy="64008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2800" b="1" dirty="0">
                <a:solidFill>
                  <a:srgbClr val="2D4A3E"/>
                </a:solidFill>
                <a:latin typeface="Avara"/>
              </a:rPr>
              <a:t>Conflict Resolution</a:t>
            </a:r>
          </a:p>
        </p:txBody>
      </p:sp>
      <p:sp>
        <p:nvSpPr>
          <p:cNvPr id="11" name="Subtitle"/>
          <p:cNvSpPr txBox="1"/>
          <p:nvPr/>
        </p:nvSpPr>
        <p:spPr>
          <a:xfrm>
            <a:off x="155550" y="868911"/>
            <a:ext cx="5000000" cy="45720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1800" dirty="0">
                <a:solidFill>
                  <a:srgbClr val="1A1A1A"/>
                </a:solidFill>
                <a:latin typeface="Avara"/>
              </a:rPr>
              <a:t>Roll 2d6 + Stat Modifier (-1 to +3)</a:t>
            </a:r>
          </a:p>
        </p:txBody>
      </p:sp>
      <p:sp>
        <p:nvSpPr>
          <p:cNvPr id="13" name="R10desc"/>
          <p:cNvSpPr txBox="1"/>
          <p:nvPr/>
        </p:nvSpPr>
        <p:spPr>
          <a:xfrm>
            <a:off x="2910355" y="4516966"/>
            <a:ext cx="4500000" cy="45720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1300" dirty="0">
                <a:solidFill>
                  <a:srgbClr val="1A1A1A"/>
                </a:solidFill>
                <a:latin typeface="IM FELL English Roman"/>
              </a:rPr>
              <a:t>Full success, you get what you wanted</a:t>
            </a:r>
          </a:p>
        </p:txBody>
      </p:sp>
      <p:sp>
        <p:nvSpPr>
          <p:cNvPr id="15" name="R79desc"/>
          <p:cNvSpPr txBox="1"/>
          <p:nvPr/>
        </p:nvSpPr>
        <p:spPr>
          <a:xfrm>
            <a:off x="2910355" y="2869859"/>
            <a:ext cx="3113298" cy="73152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1300" dirty="0">
                <a:solidFill>
                  <a:srgbClr val="1A1A1A"/>
                </a:solidFill>
                <a:latin typeface="IM FELL English Roman"/>
              </a:rPr>
              <a:t>Success with Complications — you succeed, but there’s a cost, a hard choice, or a consequence. This is where the best fiction happens.</a:t>
            </a:r>
          </a:p>
        </p:txBody>
      </p:sp>
      <p:sp>
        <p:nvSpPr>
          <p:cNvPr id="17" name="R6desc"/>
          <p:cNvSpPr txBox="1"/>
          <p:nvPr/>
        </p:nvSpPr>
        <p:spPr>
          <a:xfrm>
            <a:off x="2910355" y="1621836"/>
            <a:ext cx="3113298" cy="82296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1300" dirty="0">
                <a:solidFill>
                  <a:srgbClr val="1A1A1A"/>
                </a:solidFill>
                <a:latin typeface="IM FELL English Roman"/>
              </a:rPr>
              <a:t>Miss — mark XP! The GM makes a move. NOT just “you failed.” Something bad happens — possibly worse than failure. The fiction moves forward dangerously.</a:t>
            </a:r>
          </a:p>
        </p:txBody>
      </p:sp>
      <p:sp>
        <p:nvSpPr>
          <p:cNvPr id="18" name="PhilosophyHead"/>
          <p:cNvSpPr txBox="1"/>
          <p:nvPr/>
        </p:nvSpPr>
        <p:spPr>
          <a:xfrm>
            <a:off x="7232558" y="3872655"/>
            <a:ext cx="5000000" cy="36576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b="1" dirty="0">
                <a:solidFill>
                  <a:srgbClr val="2D4A3E"/>
                </a:solidFill>
                <a:latin typeface="Avara"/>
              </a:rPr>
              <a:t>How This Changes Everything:</a:t>
            </a:r>
          </a:p>
        </p:txBody>
      </p:sp>
      <p:sp>
        <p:nvSpPr>
          <p:cNvPr id="19" name="Philosophy"/>
          <p:cNvSpPr txBox="1"/>
          <p:nvPr/>
        </p:nvSpPr>
        <p:spPr>
          <a:xfrm>
            <a:off x="7232558" y="4301068"/>
            <a:ext cx="4516365" cy="178308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spcBef>
                <a:spcPts val="600"/>
              </a:spcBef>
            </a:pPr>
            <a:r>
              <a:rPr lang="en-US" sz="1400" dirty="0">
                <a:solidFill>
                  <a:srgbClr val="1A1A1A"/>
                </a:solidFill>
                <a:latin typeface="IM FELL English Roman"/>
              </a:rPr>
              <a:t>• The GM almost never rolls dice</a:t>
            </a:r>
          </a:p>
          <a:p>
            <a:pPr algn="l">
              <a:spcBef>
                <a:spcPts val="600"/>
              </a:spcBef>
            </a:pPr>
            <a:r>
              <a:rPr lang="en-US" sz="1400" dirty="0">
                <a:solidFill>
                  <a:srgbClr val="1A1A1A"/>
                </a:solidFill>
                <a:latin typeface="IM FELL English Roman"/>
              </a:rPr>
              <a:t>• Monsters don’t take turns — their actions ARE the consequences of your rolls</a:t>
            </a:r>
          </a:p>
          <a:p>
            <a:pPr algn="l">
              <a:spcBef>
                <a:spcPts val="600"/>
              </a:spcBef>
            </a:pPr>
            <a:r>
              <a:rPr lang="en-US" sz="1400" dirty="0">
                <a:solidFill>
                  <a:srgbClr val="1A1A1A"/>
                </a:solidFill>
                <a:latin typeface="IM FELL English Roman"/>
              </a:rPr>
              <a:t>• On 10+, the enemy can’t touch you. On 7–9, it gets a piece of you. On 6−, it acts before/despite you</a:t>
            </a:r>
          </a:p>
          <a:p>
            <a:pPr algn="l">
              <a:spcBef>
                <a:spcPts val="600"/>
              </a:spcBef>
            </a:pPr>
            <a:r>
              <a:rPr lang="en-US" sz="1400" dirty="0">
                <a:solidFill>
                  <a:srgbClr val="1A1A1A"/>
                </a:solidFill>
                <a:latin typeface="IM FELL English Roman"/>
              </a:rPr>
              <a:t>• Every roll moves the story forward — no wasted turns</a:t>
            </a:r>
          </a:p>
          <a:p>
            <a:pPr algn="l">
              <a:spcBef>
                <a:spcPts val="600"/>
              </a:spcBef>
            </a:pPr>
            <a:r>
              <a:rPr lang="en-US" sz="1400" dirty="0">
                <a:solidFill>
                  <a:srgbClr val="1A1A1A"/>
                </a:solidFill>
                <a:latin typeface="IM FELL English Roman"/>
              </a:rPr>
              <a:t>• Fiction first: describe what you do, then we see if it triggers a move</a:t>
            </a:r>
          </a:p>
        </p:txBody>
      </p:sp>
      <p:sp>
        <p:nvSpPr>
          <p:cNvPr id="20" name="Footer"/>
          <p:cNvSpPr txBox="1"/>
          <p:nvPr/>
        </p:nvSpPr>
        <p:spPr>
          <a:xfrm>
            <a:off x="457200" y="6217920"/>
            <a:ext cx="7315200" cy="365760"/>
          </a:xfrm>
          <a:prstGeom prst="rect">
            <a:avLst/>
          </a:prstGeom>
          <a:noFill/>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pPr algn="l"/>
            <a:r>
              <a:rPr lang="en-US" sz="1100" i="1" dirty="0">
                <a:solidFill>
                  <a:srgbClr val="666666"/>
                </a:solidFill>
                <a:latin typeface="IM FELL English Roman"/>
              </a:rPr>
              <a:t>Advantage: 3d6 keep best 2  |  Disadvantage: 3d6 keep worst 2  |  They cancel out</a:t>
            </a:r>
          </a:p>
        </p:txBody>
      </p:sp>
      <p:pic>
        <p:nvPicPr>
          <p:cNvPr id="21" name="CrinwinDiceArt"/>
          <p:cNvPicPr>
            <a:picLocks noChangeAspect="1"/>
          </p:cNvPicPr>
          <p:nvPr/>
        </p:nvPicPr>
        <p:blipFill>
          <a:blip r:embed="rId3">
            <a:alphaModFix/>
          </a:blip>
          <a:stretch/>
        </p:blipFill>
        <p:spPr>
          <a:xfrm>
            <a:off x="7772400" y="815846"/>
            <a:ext cx="2899802" cy="2899802"/>
          </a:xfrm>
          <a:prstGeom prst="rect">
            <a:avLst/>
          </a:prstGeom>
          <a:ln>
            <a:noFill/>
          </a:ln>
          <a:effectLst>
            <a:outerShdw blurRad="292100" dist="139700" dir="2700000" algn="tl" rotWithShape="0">
              <a:srgbClr val="333333">
                <a:alpha val="65000"/>
              </a:srgbClr>
            </a:outerShdw>
          </a:effectLst>
        </p:spPr>
      </p:pic>
      <p:pic>
        <p:nvPicPr>
          <p:cNvPr id="2" name="CrinwinDiceArt">
            <a:extLst>
              <a:ext uri="{FF2B5EF4-FFF2-40B4-BE49-F238E27FC236}">
                <a16:creationId xmlns:a16="http://schemas.microsoft.com/office/drawing/2014/main" id="{71912B6B-A607-8BA1-938B-1AA0DA39EA3C}"/>
              </a:ext>
            </a:extLst>
          </p:cNvPr>
          <p:cNvPicPr>
            <a:picLocks noChangeAspect="1"/>
          </p:cNvPicPr>
          <p:nvPr/>
        </p:nvPicPr>
        <p:blipFill>
          <a:blip r:embed="rId4"/>
          <a:srcRect l="42710" t="36387"/>
          <a:stretch>
            <a:fillRect/>
          </a:stretch>
        </p:blipFill>
        <p:spPr>
          <a:xfrm>
            <a:off x="297455" y="1459883"/>
            <a:ext cx="2444685" cy="4071755"/>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Moves Background Art"/>
          <p:cNvPicPr>
            <a:picLocks noChangeAspect="1"/>
          </p:cNvPicPr>
          <p:nvPr/>
        </p:nvPicPr>
        <p:blipFill>
          <a:blip r:embed="rId3"/>
          <a:srcRect t="7813" b="7813"/>
          <a:stretch>
            <a:fillRect/>
          </a:stretch>
        </p:blipFill>
        <p:spPr>
          <a:xfrm>
            <a:off x="0" y="0"/>
            <a:ext cx="12192000" cy="6858000"/>
          </a:xfrm>
          <a:prstGeom prst="rect">
            <a:avLst/>
          </a:prstGeom>
        </p:spPr>
      </p:pic>
      <p:sp>
        <p:nvSpPr>
          <p:cNvPr id="20" name="BasicH"/>
          <p:cNvSpPr txBox="1"/>
          <p:nvPr/>
        </p:nvSpPr>
        <p:spPr>
          <a:xfrm>
            <a:off x="1425562" y="882801"/>
            <a:ext cx="2617812" cy="280000"/>
          </a:xfrm>
          <a:prstGeom prst="rect">
            <a:avLst/>
          </a:prstGeom>
          <a:noFill/>
        </p:spPr>
        <p:txBody>
          <a:bodyPr wrap="square" lIns="91440" tIns="45720" rIns="91440" bIns="45720" anchor="ctr"/>
          <a:lstStyle/>
          <a:p>
            <a:pPr algn="ctr"/>
            <a:r>
              <a:rPr lang="en-US" sz="1400" b="1" dirty="0">
                <a:solidFill>
                  <a:srgbClr val="2D4A3E"/>
                </a:solidFill>
                <a:latin typeface="Avara"/>
              </a:rPr>
              <a:t>Basic</a:t>
            </a:r>
          </a:p>
        </p:txBody>
      </p:sp>
      <p:sp>
        <p:nvSpPr>
          <p:cNvPr id="21" name="BasicL"/>
          <p:cNvSpPr txBox="1"/>
          <p:nvPr/>
        </p:nvSpPr>
        <p:spPr>
          <a:xfrm>
            <a:off x="1425562" y="898517"/>
            <a:ext cx="2617812" cy="1617929"/>
          </a:xfrm>
          <a:prstGeom prst="rect">
            <a:avLst/>
          </a:prstGeom>
          <a:noFill/>
        </p:spPr>
        <p:txBody>
          <a:bodyPr wrap="square" lIns="91440" tIns="45720" rIns="91440" bIns="45720" anchor="t"/>
          <a:lstStyle/>
          <a:p>
            <a:pPr algn="l"/>
            <a:r>
              <a:rPr lang="en-US" sz="1400" dirty="0">
                <a:solidFill>
                  <a:srgbClr val="1A1A1A"/>
                </a:solidFill>
                <a:latin typeface="IM FELL English Roman"/>
              </a:rPr>
              <a:t>• Aid</a:t>
            </a:r>
          </a:p>
          <a:p>
            <a:pPr algn="l"/>
            <a:r>
              <a:rPr lang="en-US" sz="1400" dirty="0">
                <a:solidFill>
                  <a:srgbClr val="1A1A1A"/>
                </a:solidFill>
                <a:latin typeface="IM FELL English Roman"/>
              </a:rPr>
              <a:t>• Clash</a:t>
            </a:r>
          </a:p>
          <a:p>
            <a:pPr algn="l"/>
            <a:r>
              <a:rPr lang="en-US" sz="1400" dirty="0">
                <a:solidFill>
                  <a:srgbClr val="1A1A1A"/>
                </a:solidFill>
                <a:latin typeface="IM FELL English Roman"/>
              </a:rPr>
              <a:t>• Defend</a:t>
            </a:r>
          </a:p>
          <a:p>
            <a:pPr algn="l"/>
            <a:r>
              <a:rPr lang="en-US" sz="1400" dirty="0">
                <a:solidFill>
                  <a:srgbClr val="1A1A1A"/>
                </a:solidFill>
                <a:latin typeface="IM FELL English Roman"/>
              </a:rPr>
              <a:t>• Defy Danger</a:t>
            </a:r>
          </a:p>
          <a:p>
            <a:pPr algn="l"/>
            <a:r>
              <a:rPr lang="en-US" sz="1400" dirty="0">
                <a:solidFill>
                  <a:srgbClr val="1A1A1A"/>
                </a:solidFill>
                <a:latin typeface="IM FELL English Roman"/>
              </a:rPr>
              <a:t>• Interfere</a:t>
            </a:r>
          </a:p>
          <a:p>
            <a:pPr algn="l"/>
            <a:r>
              <a:rPr lang="en-US" sz="1400" dirty="0">
                <a:solidFill>
                  <a:srgbClr val="1A1A1A"/>
                </a:solidFill>
                <a:latin typeface="IM FELL English Roman"/>
              </a:rPr>
              <a:t>• Know Things</a:t>
            </a:r>
          </a:p>
          <a:p>
            <a:pPr algn="l"/>
            <a:r>
              <a:rPr lang="en-US" sz="1400" dirty="0">
                <a:solidFill>
                  <a:srgbClr val="1A1A1A"/>
                </a:solidFill>
                <a:latin typeface="IM FELL English Roman"/>
              </a:rPr>
              <a:t>• Let Fly</a:t>
            </a:r>
          </a:p>
          <a:p>
            <a:pPr algn="l"/>
            <a:r>
              <a:rPr lang="en-US" sz="1400" dirty="0">
                <a:solidFill>
                  <a:srgbClr val="1A1A1A"/>
                </a:solidFill>
                <a:latin typeface="IM FELL English Roman"/>
              </a:rPr>
              <a:t>• Persuade</a:t>
            </a:r>
          </a:p>
          <a:p>
            <a:pPr algn="l"/>
            <a:r>
              <a:rPr lang="en-US" sz="1400" dirty="0">
                <a:solidFill>
                  <a:srgbClr val="1A1A1A"/>
                </a:solidFill>
                <a:latin typeface="IM FELL English Roman"/>
              </a:rPr>
              <a:t>• Seek Insight</a:t>
            </a:r>
          </a:p>
        </p:txBody>
      </p:sp>
      <p:sp>
        <p:nvSpPr>
          <p:cNvPr id="22" name="ExpH"/>
          <p:cNvSpPr txBox="1"/>
          <p:nvPr/>
        </p:nvSpPr>
        <p:spPr>
          <a:xfrm rot="1624610">
            <a:off x="6543899" y="1052925"/>
            <a:ext cx="1279075" cy="412260"/>
          </a:xfrm>
          <a:prstGeom prst="rect">
            <a:avLst/>
          </a:prstGeom>
          <a:noFill/>
        </p:spPr>
        <p:txBody>
          <a:bodyPr wrap="square" lIns="91440" tIns="45720" rIns="91440" bIns="45720" anchor="ctr"/>
          <a:lstStyle/>
          <a:p>
            <a:pPr algn="ctr"/>
            <a:r>
              <a:rPr lang="en-US" sz="1400" b="1" dirty="0">
                <a:solidFill>
                  <a:srgbClr val="2D4A3E"/>
                </a:solidFill>
                <a:latin typeface="Avara"/>
              </a:rPr>
              <a:t>Expedition</a:t>
            </a:r>
          </a:p>
        </p:txBody>
      </p:sp>
      <p:sp>
        <p:nvSpPr>
          <p:cNvPr id="23" name="ExpL"/>
          <p:cNvSpPr txBox="1"/>
          <p:nvPr/>
        </p:nvSpPr>
        <p:spPr>
          <a:xfrm>
            <a:off x="4600562" y="873577"/>
            <a:ext cx="2132747" cy="1617928"/>
          </a:xfrm>
          <a:prstGeom prst="rect">
            <a:avLst/>
          </a:prstGeom>
          <a:noFill/>
        </p:spPr>
        <p:txBody>
          <a:bodyPr wrap="square" lIns="91440" tIns="45720" rIns="91440" bIns="45720" anchor="t"/>
          <a:lstStyle/>
          <a:p>
            <a:pPr algn="l"/>
            <a:r>
              <a:rPr lang="en-US" sz="1400" dirty="0">
                <a:solidFill>
                  <a:srgbClr val="1A1A1A"/>
                </a:solidFill>
                <a:latin typeface="IM FELL English Roman"/>
              </a:rPr>
              <a:t>• Chart a Course</a:t>
            </a:r>
          </a:p>
          <a:p>
            <a:pPr algn="l"/>
            <a:r>
              <a:rPr lang="en-US" sz="1400" dirty="0">
                <a:solidFill>
                  <a:srgbClr val="1A1A1A"/>
                </a:solidFill>
                <a:latin typeface="IM FELL English Roman"/>
              </a:rPr>
              <a:t>• Outfit</a:t>
            </a:r>
          </a:p>
          <a:p>
            <a:pPr algn="l"/>
            <a:r>
              <a:rPr lang="en-US" sz="1400" dirty="0">
                <a:solidFill>
                  <a:srgbClr val="1A1A1A"/>
                </a:solidFill>
                <a:latin typeface="IM FELL English Roman"/>
              </a:rPr>
              <a:t>• Requisition</a:t>
            </a:r>
          </a:p>
          <a:p>
            <a:pPr algn="l"/>
            <a:r>
              <a:rPr lang="en-US" sz="1400" dirty="0">
                <a:solidFill>
                  <a:srgbClr val="1A1A1A"/>
                </a:solidFill>
                <a:latin typeface="IM FELL English Roman"/>
              </a:rPr>
              <a:t>• Have What You Need</a:t>
            </a:r>
          </a:p>
          <a:p>
            <a:pPr algn="l"/>
            <a:r>
              <a:rPr lang="en-US" sz="1400" dirty="0">
                <a:solidFill>
                  <a:srgbClr val="1A1A1A"/>
                </a:solidFill>
                <a:latin typeface="IM FELL English Roman"/>
              </a:rPr>
              <a:t>• Recover</a:t>
            </a:r>
          </a:p>
          <a:p>
            <a:pPr algn="l"/>
            <a:r>
              <a:rPr lang="en-US" sz="1400" dirty="0">
                <a:solidFill>
                  <a:srgbClr val="1A1A1A"/>
                </a:solidFill>
                <a:latin typeface="IM FELL English Roman"/>
              </a:rPr>
              <a:t>• Struggle as One</a:t>
            </a:r>
          </a:p>
          <a:p>
            <a:pPr algn="l"/>
            <a:r>
              <a:rPr lang="en-US" sz="1400" dirty="0">
                <a:solidFill>
                  <a:srgbClr val="1A1A1A"/>
                </a:solidFill>
                <a:latin typeface="IM FELL English Roman"/>
              </a:rPr>
              <a:t>• Keep Company</a:t>
            </a:r>
          </a:p>
          <a:p>
            <a:pPr algn="l"/>
            <a:r>
              <a:rPr lang="en-US" sz="1400" dirty="0">
                <a:solidFill>
                  <a:srgbClr val="1A1A1A"/>
                </a:solidFill>
                <a:latin typeface="IM FELL English Roman"/>
              </a:rPr>
              <a:t>• Make Camp</a:t>
            </a:r>
          </a:p>
          <a:p>
            <a:pPr algn="l"/>
            <a:r>
              <a:rPr lang="en-US" sz="1400" dirty="0">
                <a:solidFill>
                  <a:srgbClr val="1A1A1A"/>
                </a:solidFill>
                <a:latin typeface="IM FELL English Roman"/>
              </a:rPr>
              <a:t>• Return Triumphant</a:t>
            </a:r>
          </a:p>
        </p:txBody>
      </p:sp>
      <p:sp>
        <p:nvSpPr>
          <p:cNvPr id="24" name="HomeH"/>
          <p:cNvSpPr txBox="1"/>
          <p:nvPr/>
        </p:nvSpPr>
        <p:spPr>
          <a:xfrm>
            <a:off x="8466125" y="199754"/>
            <a:ext cx="2443187" cy="280000"/>
          </a:xfrm>
          <a:prstGeom prst="rect">
            <a:avLst/>
          </a:prstGeom>
          <a:noFill/>
        </p:spPr>
        <p:txBody>
          <a:bodyPr wrap="square" lIns="91440" tIns="45720" rIns="91440" bIns="45720" anchor="ctr"/>
          <a:lstStyle/>
          <a:p>
            <a:pPr algn="ctr"/>
            <a:r>
              <a:rPr lang="en-US" sz="1400" b="1" dirty="0">
                <a:solidFill>
                  <a:srgbClr val="2D4A3E"/>
                </a:solidFill>
                <a:latin typeface="Avara"/>
              </a:rPr>
              <a:t>Homefront</a:t>
            </a:r>
          </a:p>
        </p:txBody>
      </p:sp>
      <p:sp>
        <p:nvSpPr>
          <p:cNvPr id="25" name="HomeL"/>
          <p:cNvSpPr txBox="1"/>
          <p:nvPr/>
        </p:nvSpPr>
        <p:spPr>
          <a:xfrm>
            <a:off x="8466125" y="579754"/>
            <a:ext cx="2443187" cy="2594285"/>
          </a:xfrm>
          <a:prstGeom prst="rect">
            <a:avLst/>
          </a:prstGeom>
          <a:noFill/>
        </p:spPr>
        <p:txBody>
          <a:bodyPr wrap="square" lIns="91440" tIns="45720" rIns="91440" bIns="45720" anchor="t"/>
          <a:lstStyle/>
          <a:p>
            <a:pPr algn="l"/>
            <a:r>
              <a:rPr lang="en-US" sz="1400">
                <a:solidFill>
                  <a:srgbClr val="1A1A1A"/>
                </a:solidFill>
                <a:latin typeface="IM FELL English Roman"/>
              </a:rPr>
              <a:t>• Bolster</a:t>
            </a:r>
          </a:p>
          <a:p>
            <a:pPr algn="l"/>
            <a:r>
              <a:rPr lang="en-US" sz="1400">
                <a:solidFill>
                  <a:srgbClr val="1A1A1A"/>
                </a:solidFill>
                <a:latin typeface="IM FELL English Roman"/>
              </a:rPr>
              <a:t>• Convalesce</a:t>
            </a:r>
          </a:p>
          <a:p>
            <a:pPr algn="l"/>
            <a:r>
              <a:rPr lang="en-US" sz="1400">
                <a:solidFill>
                  <a:srgbClr val="1A1A1A"/>
                </a:solidFill>
                <a:latin typeface="IM FELL English Roman"/>
              </a:rPr>
              <a:t>• Deploy</a:t>
            </a:r>
          </a:p>
          <a:p>
            <a:pPr algn="l"/>
            <a:r>
              <a:rPr lang="en-US" sz="1400">
                <a:solidFill>
                  <a:srgbClr val="1A1A1A"/>
                </a:solidFill>
                <a:latin typeface="IM FELL English Roman"/>
              </a:rPr>
              <a:t>• Level Up</a:t>
            </a:r>
          </a:p>
          <a:p>
            <a:pPr algn="l"/>
            <a:r>
              <a:rPr lang="en-US" sz="1400">
                <a:solidFill>
                  <a:srgbClr val="1A1A1A"/>
                </a:solidFill>
                <a:latin typeface="IM FELL English Roman"/>
              </a:rPr>
              <a:t>• Make a Plan</a:t>
            </a:r>
          </a:p>
          <a:p>
            <a:pPr algn="l"/>
            <a:r>
              <a:rPr lang="en-US" sz="1400">
                <a:solidFill>
                  <a:srgbClr val="1A1A1A"/>
                </a:solidFill>
                <a:latin typeface="IM FELL English Roman"/>
              </a:rPr>
              <a:t>• Meet with Disaster</a:t>
            </a:r>
          </a:p>
          <a:p>
            <a:pPr algn="l"/>
            <a:r>
              <a:rPr lang="en-US" sz="1400">
                <a:solidFill>
                  <a:srgbClr val="1A1A1A"/>
                </a:solidFill>
                <a:latin typeface="IM FELL English Roman"/>
              </a:rPr>
              <a:t>• Muster</a:t>
            </a:r>
          </a:p>
          <a:p>
            <a:pPr algn="l"/>
            <a:r>
              <a:rPr lang="en-US" sz="1400">
                <a:solidFill>
                  <a:srgbClr val="1A1A1A"/>
                </a:solidFill>
                <a:latin typeface="IM FELL English Roman"/>
              </a:rPr>
              <a:t>• Pull Together</a:t>
            </a:r>
          </a:p>
          <a:p>
            <a:pPr algn="l"/>
            <a:r>
              <a:rPr lang="en-US" sz="1400">
                <a:solidFill>
                  <a:srgbClr val="1A1A1A"/>
                </a:solidFill>
                <a:latin typeface="IM FELL English Roman"/>
              </a:rPr>
              <a:t>• Seasons Change</a:t>
            </a:r>
          </a:p>
          <a:p>
            <a:pPr algn="l"/>
            <a:r>
              <a:rPr lang="en-US" sz="1400">
                <a:solidFill>
                  <a:srgbClr val="1A1A1A"/>
                </a:solidFill>
                <a:latin typeface="IM FELL English Roman"/>
              </a:rPr>
              <a:t>• Trade &amp; Barter</a:t>
            </a:r>
          </a:p>
        </p:txBody>
      </p:sp>
      <p:sp>
        <p:nvSpPr>
          <p:cNvPr id="30" name="PBH"/>
          <p:cNvSpPr txBox="1"/>
          <p:nvPr/>
        </p:nvSpPr>
        <p:spPr>
          <a:xfrm>
            <a:off x="1870062" y="4415056"/>
            <a:ext cx="2736875" cy="280000"/>
          </a:xfrm>
          <a:prstGeom prst="rect">
            <a:avLst/>
          </a:prstGeom>
          <a:noFill/>
        </p:spPr>
        <p:txBody>
          <a:bodyPr wrap="square" lIns="91440" tIns="45720" rIns="91440" bIns="45720" anchor="ctr"/>
          <a:lstStyle/>
          <a:p>
            <a:pPr algn="ctr"/>
            <a:r>
              <a:rPr lang="en-US" sz="1400" b="1">
                <a:solidFill>
                  <a:srgbClr val="2D4A3E"/>
                </a:solidFill>
                <a:latin typeface="Avara"/>
              </a:rPr>
              <a:t>Playbook</a:t>
            </a:r>
          </a:p>
        </p:txBody>
      </p:sp>
      <p:sp>
        <p:nvSpPr>
          <p:cNvPr id="31" name="PBL"/>
          <p:cNvSpPr txBox="1"/>
          <p:nvPr/>
        </p:nvSpPr>
        <p:spPr>
          <a:xfrm>
            <a:off x="1870062" y="4695056"/>
            <a:ext cx="2736875" cy="1228539"/>
          </a:xfrm>
          <a:prstGeom prst="rect">
            <a:avLst/>
          </a:prstGeom>
          <a:noFill/>
        </p:spPr>
        <p:txBody>
          <a:bodyPr wrap="square" lIns="91440" tIns="45720" rIns="91440" bIns="45720" anchor="t"/>
          <a:lstStyle/>
          <a:p>
            <a:pPr algn="l"/>
            <a:r>
              <a:rPr lang="en-US" sz="1400" dirty="0">
                <a:solidFill>
                  <a:srgbClr val="1A1A1A"/>
                </a:solidFill>
                <a:latin typeface="IM FELL English Roman"/>
              </a:rPr>
              <a:t>• Unique to each class</a:t>
            </a:r>
          </a:p>
          <a:p>
            <a:pPr algn="l"/>
            <a:r>
              <a:rPr lang="en-US" sz="1400" dirty="0">
                <a:solidFill>
                  <a:srgbClr val="1A1A1A"/>
                </a:solidFill>
                <a:latin typeface="IM FELL English Roman"/>
              </a:rPr>
              <a:t>• Gained at creation</a:t>
            </a:r>
          </a:p>
          <a:p>
            <a:pPr algn="l"/>
            <a:r>
              <a:rPr lang="en-US" sz="1400" dirty="0">
                <a:solidFill>
                  <a:srgbClr val="1A1A1A"/>
                </a:solidFill>
                <a:latin typeface="IM FELL English Roman"/>
              </a:rPr>
              <a:t>• More on level-up</a:t>
            </a:r>
          </a:p>
          <a:p>
            <a:pPr algn="l"/>
            <a:r>
              <a:rPr lang="en-US" sz="1400" dirty="0">
                <a:solidFill>
                  <a:srgbClr val="1A1A1A"/>
                </a:solidFill>
                <a:latin typeface="IM FELL English Roman"/>
              </a:rPr>
              <a:t>• See your playbook sheet</a:t>
            </a:r>
          </a:p>
        </p:txBody>
      </p:sp>
      <p:sp>
        <p:nvSpPr>
          <p:cNvPr id="26" name="SpecH"/>
          <p:cNvSpPr txBox="1"/>
          <p:nvPr/>
        </p:nvSpPr>
        <p:spPr>
          <a:xfrm>
            <a:off x="5299062" y="4347196"/>
            <a:ext cx="2601937" cy="280000"/>
          </a:xfrm>
          <a:prstGeom prst="rect">
            <a:avLst/>
          </a:prstGeom>
          <a:noFill/>
        </p:spPr>
        <p:txBody>
          <a:bodyPr wrap="square" lIns="91440" tIns="45720" rIns="91440" bIns="45720" anchor="ctr"/>
          <a:lstStyle/>
          <a:p>
            <a:pPr algn="ctr"/>
            <a:r>
              <a:rPr lang="en-US" sz="1400" b="1" dirty="0">
                <a:solidFill>
                  <a:srgbClr val="2D4A3E"/>
                </a:solidFill>
                <a:latin typeface="Avara"/>
              </a:rPr>
              <a:t>Special</a:t>
            </a:r>
          </a:p>
        </p:txBody>
      </p:sp>
      <p:sp>
        <p:nvSpPr>
          <p:cNvPr id="27" name="SpecL"/>
          <p:cNvSpPr txBox="1"/>
          <p:nvPr/>
        </p:nvSpPr>
        <p:spPr>
          <a:xfrm>
            <a:off x="5299062" y="4702010"/>
            <a:ext cx="2601937" cy="1371580"/>
          </a:xfrm>
          <a:prstGeom prst="rect">
            <a:avLst/>
          </a:prstGeom>
          <a:noFill/>
        </p:spPr>
        <p:txBody>
          <a:bodyPr wrap="square" lIns="91440" tIns="45720" rIns="91440" bIns="45720" anchor="t"/>
          <a:lstStyle/>
          <a:p>
            <a:pPr algn="l"/>
            <a:r>
              <a:rPr lang="en-US" sz="1400" dirty="0">
                <a:solidFill>
                  <a:srgbClr val="1A1A1A"/>
                </a:solidFill>
                <a:latin typeface="IM FELL English Roman"/>
              </a:rPr>
              <a:t>• Advantage/Disadv.</a:t>
            </a:r>
          </a:p>
          <a:p>
            <a:pPr algn="l"/>
            <a:r>
              <a:rPr lang="en-US" sz="1400" dirty="0">
                <a:solidFill>
                  <a:srgbClr val="1A1A1A"/>
                </a:solidFill>
                <a:latin typeface="IM FELL English Roman"/>
              </a:rPr>
              <a:t>• Burn Brightly</a:t>
            </a:r>
          </a:p>
          <a:p>
            <a:pPr algn="l"/>
            <a:r>
              <a:rPr lang="en-US" sz="1400" dirty="0">
                <a:solidFill>
                  <a:srgbClr val="1A1A1A"/>
                </a:solidFill>
                <a:latin typeface="IM FELL English Roman"/>
              </a:rPr>
              <a:t>• End of Session</a:t>
            </a:r>
          </a:p>
          <a:p>
            <a:pPr algn="l"/>
            <a:r>
              <a:rPr lang="en-US" sz="1400" dirty="0">
                <a:solidFill>
                  <a:srgbClr val="1A1A1A"/>
                </a:solidFill>
                <a:latin typeface="IM FELL English Roman"/>
              </a:rPr>
              <a:t>• Death’s Door</a:t>
            </a:r>
          </a:p>
        </p:txBody>
      </p:sp>
      <p:sp>
        <p:nvSpPr>
          <p:cNvPr id="28" name="FollH"/>
          <p:cNvSpPr txBox="1"/>
          <p:nvPr/>
        </p:nvSpPr>
        <p:spPr>
          <a:xfrm>
            <a:off x="8640750" y="4788551"/>
            <a:ext cx="1490687" cy="280000"/>
          </a:xfrm>
          <a:prstGeom prst="rect">
            <a:avLst/>
          </a:prstGeom>
          <a:noFill/>
        </p:spPr>
        <p:txBody>
          <a:bodyPr wrap="square" lIns="91440" tIns="45720" rIns="91440" bIns="45720" anchor="ctr"/>
          <a:lstStyle/>
          <a:p>
            <a:pPr algn="ctr"/>
            <a:r>
              <a:rPr lang="en-US" sz="1400" b="1">
                <a:solidFill>
                  <a:srgbClr val="2D4A3E"/>
                </a:solidFill>
                <a:latin typeface="Avara"/>
              </a:rPr>
              <a:t>Follower</a:t>
            </a:r>
          </a:p>
        </p:txBody>
      </p:sp>
      <p:sp>
        <p:nvSpPr>
          <p:cNvPr id="29" name="FollL"/>
          <p:cNvSpPr txBox="1"/>
          <p:nvPr/>
        </p:nvSpPr>
        <p:spPr>
          <a:xfrm>
            <a:off x="8640750" y="5101803"/>
            <a:ext cx="1681188" cy="735844"/>
          </a:xfrm>
          <a:prstGeom prst="rect">
            <a:avLst/>
          </a:prstGeom>
          <a:noFill/>
        </p:spPr>
        <p:txBody>
          <a:bodyPr wrap="square" lIns="91440" tIns="45720" rIns="91440" bIns="45720" anchor="t"/>
          <a:lstStyle/>
          <a:p>
            <a:pPr algn="l"/>
            <a:r>
              <a:rPr lang="en-US" sz="1400" dirty="0">
                <a:solidFill>
                  <a:srgbClr val="1A1A1A"/>
                </a:solidFill>
                <a:latin typeface="IM FELL English Roman"/>
              </a:rPr>
              <a:t>• Order Followers</a:t>
            </a:r>
          </a:p>
          <a:p>
            <a:pPr algn="l"/>
            <a:r>
              <a:rPr lang="en-US" sz="1400" dirty="0">
                <a:solidFill>
                  <a:srgbClr val="1A1A1A"/>
                </a:solidFill>
                <a:latin typeface="IM FELL English Roman"/>
              </a:rPr>
              <a:t>• Strengthen Bond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274320"/>
            <a:ext cx="6096000" cy="64008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a:solidFill>
                  <a:srgbClr val="2D4A3E"/>
                </a:solidFill>
                <a:latin typeface="Avara" pitchFamily="34" charset="0"/>
                <a:ea typeface="Avara" pitchFamily="34" charset="-122"/>
                <a:cs typeface="Avara" pitchFamily="34" charset="-120"/>
              </a:rPr>
              <a:t>Mechanics</a:t>
            </a:r>
            <a:endParaRPr lang="en-US" sz="2800" dirty="0"/>
          </a:p>
        </p:txBody>
      </p:sp>
      <p:sp>
        <p:nvSpPr>
          <p:cNvPr id="3" name="Text 1"/>
          <p:cNvSpPr/>
          <p:nvPr/>
        </p:nvSpPr>
        <p:spPr>
          <a:xfrm>
            <a:off x="457200" y="1005840"/>
            <a:ext cx="6096000" cy="54864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anchor="t"/>
          <a:lstStyle/>
          <a:p>
            <a:r>
              <a:rPr lang="en-US" b="1" dirty="0">
                <a:solidFill>
                  <a:srgbClr val="2D4A3E"/>
                </a:solidFill>
                <a:latin typeface="Avara"/>
              </a:rPr>
              <a:t>Fictional Positioning</a:t>
            </a:r>
          </a:p>
          <a:p>
            <a:pPr marL="228600" indent="-228600"/>
            <a:r>
              <a:rPr lang="en-US" sz="1400" dirty="0">
                <a:solidFill>
                  <a:srgbClr val="1A1A1A"/>
                </a:solidFill>
                <a:latin typeface="IM FELL English Roman"/>
              </a:rPr>
              <a:t>• You can’t do it if the fiction doesn’t support it</a:t>
            </a:r>
          </a:p>
          <a:p>
            <a:pPr marL="228600" indent="-228600"/>
            <a:r>
              <a:rPr lang="en-US" sz="1400" dirty="0">
                <a:solidFill>
                  <a:srgbClr val="1A1A1A"/>
                </a:solidFill>
                <a:latin typeface="IM FELL English Roman"/>
              </a:rPr>
              <a:t>• Gear &amp; preparation open options, not just bonuses</a:t>
            </a:r>
          </a:p>
          <a:p>
            <a:r>
              <a:rPr lang="en-US" sz="700"/>
              <a:t> </a:t>
            </a:r>
          </a:p>
          <a:p>
            <a:r>
              <a:rPr lang="en-US" b="1" dirty="0">
                <a:solidFill>
                  <a:srgbClr val="2D4A3E"/>
                </a:solidFill>
                <a:latin typeface="Avara"/>
              </a:rPr>
              <a:t>Armor &amp; Damage</a:t>
            </a:r>
          </a:p>
          <a:p>
            <a:pPr marL="228600" indent="-228600"/>
            <a:r>
              <a:rPr lang="en-US" sz="1400" dirty="0">
                <a:solidFill>
                  <a:srgbClr val="1A1A1A"/>
                </a:solidFill>
                <a:latin typeface="IM FELL English Roman"/>
              </a:rPr>
              <a:t>• Armor subtracts from incoming damage before you lose HP</a:t>
            </a:r>
          </a:p>
          <a:p>
            <a:pPr marL="228600" indent="-228600"/>
            <a:r>
              <a:rPr lang="en-US" sz="1400" dirty="0">
                <a:solidFill>
                  <a:srgbClr val="1A1A1A"/>
                </a:solidFill>
                <a:latin typeface="IM FELL English Roman"/>
              </a:rPr>
              <a:t>• Armor doesn’t stack — use the highest value (0–1 typical, 2 tough, 3 max at start)</a:t>
            </a:r>
          </a:p>
          <a:p>
            <a:pPr marL="228600" indent="-228600"/>
            <a:r>
              <a:rPr lang="en-US" sz="1400" dirty="0">
                <a:solidFill>
                  <a:srgbClr val="1A1A1A"/>
                </a:solidFill>
                <a:latin typeface="IM FELL English Roman"/>
              </a:rPr>
              <a:t>• +Armor DOES stack on top (shields, Defend, some abilities)</a:t>
            </a:r>
          </a:p>
          <a:p>
            <a:pPr marL="228600" indent="-228600"/>
            <a:r>
              <a:rPr lang="en-US" sz="1400" dirty="0">
                <a:solidFill>
                  <a:srgbClr val="1A1A1A"/>
                </a:solidFill>
                <a:latin typeface="IM FELL English Roman"/>
              </a:rPr>
              <a:t>• Damage is your playbook die, not your weapon — the weapon is just a tool</a:t>
            </a:r>
          </a:p>
          <a:p>
            <a:r>
              <a:rPr lang="en-US" sz="700"/>
              <a:t> </a:t>
            </a:r>
          </a:p>
          <a:p>
            <a:r>
              <a:rPr lang="en-US" b="1" dirty="0">
                <a:solidFill>
                  <a:srgbClr val="2D4A3E"/>
                </a:solidFill>
                <a:latin typeface="Avara"/>
              </a:rPr>
              <a:t>Hold</a:t>
            </a:r>
          </a:p>
          <a:p>
            <a:pPr marL="228600" indent="-228600"/>
            <a:r>
              <a:rPr lang="en-US" sz="1400" dirty="0">
                <a:solidFill>
                  <a:srgbClr val="1A1A1A"/>
                </a:solidFill>
                <a:latin typeface="IM FELL English Roman"/>
              </a:rPr>
              <a:t>• Some moves grant hold — spend 1-for-1 on listed options</a:t>
            </a:r>
          </a:p>
          <a:p>
            <a:pPr marL="228600" indent="-228600"/>
            <a:r>
              <a:rPr lang="en-US" sz="1400" dirty="0">
                <a:solidFill>
                  <a:srgbClr val="1A1A1A"/>
                </a:solidFill>
                <a:latin typeface="IM FELL English Roman"/>
              </a:rPr>
              <a:t>• Lost when the situation changes</a:t>
            </a:r>
          </a:p>
          <a:p>
            <a:r>
              <a:rPr lang="en-US" sz="700"/>
              <a:t> </a:t>
            </a:r>
          </a:p>
          <a:p>
            <a:r>
              <a:rPr lang="en-US" b="1" dirty="0">
                <a:solidFill>
                  <a:srgbClr val="2D4A3E"/>
                </a:solidFill>
                <a:latin typeface="Avara"/>
              </a:rPr>
              <a:t>HP &amp; Death</a:t>
            </a:r>
          </a:p>
          <a:p>
            <a:pPr marL="228600" indent="-228600"/>
            <a:r>
              <a:rPr lang="en-US" sz="1400" dirty="0">
                <a:solidFill>
                  <a:srgbClr val="1A1A1A"/>
                </a:solidFill>
                <a:latin typeface="IM FELL English Roman"/>
              </a:rPr>
              <a:t>• Hit 0 HP → Death’s Door move (not instant death)</a:t>
            </a:r>
          </a:p>
          <a:p>
            <a:pPr marL="228600" indent="-228600"/>
            <a:r>
              <a:rPr lang="en-US" sz="1400" dirty="0">
                <a:solidFill>
                  <a:srgbClr val="1A1A1A"/>
                </a:solidFill>
                <a:latin typeface="IM FELL English Roman"/>
              </a:rPr>
              <a:t>• Healing is slow and scarce — no potions, no short rests</a:t>
            </a:r>
          </a:p>
          <a:p>
            <a:pPr marL="228600" indent="-228600"/>
            <a:r>
              <a:rPr lang="en-US" sz="1400" dirty="0">
                <a:solidFill>
                  <a:srgbClr val="1A1A1A"/>
                </a:solidFill>
                <a:latin typeface="IM FELL English Roman"/>
              </a:rPr>
              <a:t>• Damage is scary at every level</a:t>
            </a:r>
          </a:p>
          <a:p>
            <a:r>
              <a:rPr lang="en-US" sz="700"/>
              <a:t> </a:t>
            </a:r>
          </a:p>
          <a:p>
            <a:r>
              <a:rPr lang="en-US" b="1" dirty="0">
                <a:solidFill>
                  <a:srgbClr val="2D4A3E"/>
                </a:solidFill>
                <a:latin typeface="Avara"/>
              </a:rPr>
              <a:t>Debilities</a:t>
            </a:r>
          </a:p>
          <a:p>
            <a:pPr marL="228600" indent="-228600"/>
            <a:r>
              <a:rPr lang="en-US" sz="1400" dirty="0">
                <a:solidFill>
                  <a:srgbClr val="1A1A1A"/>
                </a:solidFill>
                <a:latin typeface="IM FELL English Roman"/>
              </a:rPr>
              <a:t>• Conditions giving disadvantage on a specific stat</a:t>
            </a:r>
          </a:p>
          <a:p>
            <a:pPr marL="228600" indent="-228600"/>
            <a:r>
              <a:rPr lang="en-US" sz="1400" dirty="0">
                <a:solidFill>
                  <a:srgbClr val="1A1A1A"/>
                </a:solidFill>
                <a:latin typeface="IM FELL English Roman"/>
              </a:rPr>
              <a:t>• Last until you Convalesce during downtime</a:t>
            </a:r>
          </a:p>
          <a:p>
            <a:r>
              <a:rPr lang="en-US" sz="700"/>
              <a:t> </a:t>
            </a:r>
          </a:p>
          <a:p>
            <a:r>
              <a:rPr lang="en-US" b="1" dirty="0">
                <a:solidFill>
                  <a:srgbClr val="2D4A3E"/>
                </a:solidFill>
                <a:latin typeface="Avara"/>
              </a:rPr>
              <a:t>Ammo &amp; Uses</a:t>
            </a:r>
          </a:p>
          <a:p>
            <a:pPr marL="228600" indent="-228600"/>
            <a:r>
              <a:rPr lang="en-US" sz="1400" dirty="0">
                <a:solidFill>
                  <a:srgbClr val="1A1A1A"/>
                </a:solidFill>
                <a:latin typeface="IM FELL English Roman"/>
              </a:rPr>
              <a:t>• Deplete on specific triggers, not per shot/use</a:t>
            </a:r>
          </a:p>
        </p:txBody>
      </p:sp>
      <p:pic>
        <p:nvPicPr>
          <p:cNvPr id="5" name="DeathsDoor">
            <a:extLst>
              <a:ext uri="{FF2B5EF4-FFF2-40B4-BE49-F238E27FC236}">
                <a16:creationId xmlns:a16="http://schemas.microsoft.com/office/drawing/2014/main" id="{CCBBA1A1-9BD7-65A7-EF77-EDE8B55E1D70}"/>
              </a:ext>
            </a:extLst>
          </p:cNvPr>
          <p:cNvPicPr>
            <a:picLocks noChangeAspect="1"/>
          </p:cNvPicPr>
          <p:nvPr/>
        </p:nvPicPr>
        <p:blipFill>
          <a:blip r:embed="rId3"/>
          <a:srcRect t="7414" b="15502"/>
          <a:stretch>
            <a:fillRect/>
          </a:stretch>
        </p:blipFill>
        <p:spPr>
          <a:xfrm flipH="1">
            <a:off x="6075451" y="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a:effectLst/>
      </p:bgPr>
    </p:bg>
    <p:spTree>
      <p:nvGrpSpPr>
        <p:cNvPr id="1" name=""/>
        <p:cNvGrpSpPr/>
        <p:nvPr/>
      </p:nvGrpSpPr>
      <p:grpSpPr>
        <a:xfrm>
          <a:off x="0" y="0"/>
          <a:ext cx="0" cy="0"/>
          <a:chOff x="0" y="0"/>
          <a:chExt cx="0" cy="0"/>
        </a:xfrm>
      </p:grpSpPr>
      <p:pic>
        <p:nvPicPr>
          <p:cNvPr id="50" name="StoneWatermark"/>
          <p:cNvPicPr>
            <a:picLocks noChangeAspect="1"/>
          </p:cNvPicPr>
          <p:nvPr/>
        </p:nvPicPr>
        <p:blipFill>
          <a:blip r:embed="rId3">
            <a:alphaModFix amt="70000"/>
          </a:blip>
          <a:stretch>
            <a:fillRect/>
          </a:stretch>
        </p:blipFill>
        <p:spPr>
          <a:xfrm>
            <a:off x="6500000" y="274320"/>
            <a:ext cx="4334400" cy="6300000"/>
          </a:xfrm>
          <a:prstGeom prst="rect">
            <a:avLst/>
          </a:prstGeom>
          <a:ln>
            <a:noFill/>
          </a:ln>
          <a:effectLst>
            <a:softEdge rad="112500"/>
          </a:effectLst>
        </p:spPr>
      </p:pic>
      <p:sp>
        <p:nvSpPr>
          <p:cNvPr id="2" name="Text 0"/>
          <p:cNvSpPr/>
          <p:nvPr/>
        </p:nvSpPr>
        <p:spPr>
          <a:xfrm>
            <a:off x="457200" y="274320"/>
            <a:ext cx="10972800" cy="64008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a:solidFill>
                  <a:srgbClr val="2D4A3E"/>
                </a:solidFill>
                <a:latin typeface="Avara" pitchFamily="34" charset="0"/>
                <a:ea typeface="Avara" pitchFamily="34" charset="-122"/>
                <a:cs typeface="Avara" pitchFamily="34" charset="-120"/>
              </a:rPr>
              <a:t>XP &amp; Leveling</a:t>
            </a:r>
            <a:endParaRPr lang="en-US" sz="2800" dirty="0"/>
          </a:p>
        </p:txBody>
      </p:sp>
      <p:sp>
        <p:nvSpPr>
          <p:cNvPr id="3" name="Text 1"/>
          <p:cNvSpPr/>
          <p:nvPr/>
        </p:nvSpPr>
        <p:spPr>
          <a:xfrm>
            <a:off x="457200" y="1005840"/>
            <a:ext cx="10972800" cy="54864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Sources of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Roll a 6- (miss) on any move — mark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Another PC Persuades you (on 7+) and you comply — mark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End of Session move (whole group):</a:t>
            </a:r>
            <a:endParaRPr lang="en-US" sz="1300" dirty="0"/>
          </a:p>
          <a:p>
            <a:pPr marL="0" indent="0">
              <a:lnSpc>
                <a:spcPct val="130000"/>
              </a:lnSpc>
              <a:buNone/>
            </a:pP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you demonstrate or struggle with your instinct? →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a relationship with a PC/NPC/group change? →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we learn more about the world or its history? → everyone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we defeat a threat to Stonetop? → everyone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we improve standing with neighbors? → everyone XP</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    ✦ Did we make lasting improvement to Stonetop? → everyone XP</a:t>
            </a:r>
            <a:endParaRPr lang="en-US" sz="1300" dirty="0"/>
          </a:p>
          <a:p>
            <a:pPr marL="0" indent="0">
              <a:lnSpc>
                <a:spcPct val="130000"/>
              </a:lnSpc>
              <a:buNone/>
            </a:pP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Level Up: when XP ≥ 6 + (2 × current level)</a:t>
            </a: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Subtract that amount, gain a level, pick a new move.</a:t>
            </a:r>
            <a:endParaRPr lang="en-US" sz="1300" dirty="0"/>
          </a:p>
          <a:p>
            <a:pPr marL="0" indent="0">
              <a:lnSpc>
                <a:spcPct val="130000"/>
              </a:lnSpc>
              <a:buNone/>
            </a:pPr>
            <a:endParaRPr lang="en-US" sz="1300" dirty="0"/>
          </a:p>
          <a:p>
            <a:pPr marL="0" indent="0">
              <a:lnSpc>
                <a:spcPct val="130000"/>
              </a:lnSpc>
              <a:buNone/>
            </a:pPr>
            <a:r>
              <a:rPr lang="en-US" sz="1300" dirty="0">
                <a:solidFill>
                  <a:srgbClr val="1A1A1A"/>
                </a:solidFill>
                <a:latin typeface="IM Fell English" pitchFamily="34" charset="0"/>
                <a:ea typeface="IM Fell English" pitchFamily="34" charset="-122"/>
                <a:cs typeface="IM Fell English" pitchFamily="34" charset="-120"/>
              </a:rPr>
              <a:t>Burn Brightly: Spend 2 XP after any roll to add +1 (if you have enough to level).</a:t>
            </a:r>
            <a:endParaRPr lang="en-US" sz="1300" dirty="0"/>
          </a:p>
        </p:txBody>
      </p:sp>
      <p:graphicFrame>
        <p:nvGraphicFramePr>
          <p:cNvPr id="4" name="Table 3">
            <a:extLst>
              <a:ext uri="{FF2B5EF4-FFF2-40B4-BE49-F238E27FC236}">
                <a16:creationId xmlns:a16="http://schemas.microsoft.com/office/drawing/2014/main" id="{FCF59237-7999-CAE8-8048-02FBA63C6F2C}"/>
              </a:ext>
            </a:extLst>
          </p:cNvPr>
          <p:cNvGraphicFramePr>
            <a:graphicFrameLocks noGrp="1"/>
          </p:cNvGraphicFramePr>
          <p:nvPr>
            <p:extLst>
              <p:ext uri="{D42A27DB-BD31-4B8C-83A1-F6EECF244321}">
                <p14:modId xmlns:p14="http://schemas.microsoft.com/office/powerpoint/2010/main" val="96121464"/>
              </p:ext>
            </p:extLst>
          </p:nvPr>
        </p:nvGraphicFramePr>
        <p:xfrm>
          <a:off x="4175760" y="4660422"/>
          <a:ext cx="1920240" cy="5181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1538607715"/>
                    </a:ext>
                  </a:extLst>
                </a:gridCol>
                <a:gridCol w="457200">
                  <a:extLst>
                    <a:ext uri="{9D8B030D-6E8A-4147-A177-3AD203B41FA5}">
                      <a16:colId xmlns:a16="http://schemas.microsoft.com/office/drawing/2014/main" val="2273184859"/>
                    </a:ext>
                  </a:extLst>
                </a:gridCol>
                <a:gridCol w="457200">
                  <a:extLst>
                    <a:ext uri="{9D8B030D-6E8A-4147-A177-3AD203B41FA5}">
                      <a16:colId xmlns:a16="http://schemas.microsoft.com/office/drawing/2014/main" val="242662607"/>
                    </a:ext>
                  </a:extLst>
                </a:gridCol>
                <a:gridCol w="457200">
                  <a:extLst>
                    <a:ext uri="{9D8B030D-6E8A-4147-A177-3AD203B41FA5}">
                      <a16:colId xmlns:a16="http://schemas.microsoft.com/office/drawing/2014/main" val="1978877901"/>
                    </a:ext>
                  </a:extLst>
                </a:gridCol>
              </a:tblGrid>
              <a:tr h="182880">
                <a:tc>
                  <a:txBody>
                    <a:bodyPr/>
                    <a:lstStyle/>
                    <a:p>
                      <a:r>
                        <a:rPr lang="en-US" sz="1100" b="0" kern="1200" dirty="0">
                          <a:solidFill>
                            <a:srgbClr val="1A1A1A"/>
                          </a:solidFill>
                          <a:latin typeface="IM Fell English" pitchFamily="34" charset="0"/>
                        </a:rPr>
                        <a:t>Level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1→2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2→3</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3→4</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40100455"/>
                  </a:ext>
                </a:extLst>
              </a:tr>
              <a:tr h="182880">
                <a:tc>
                  <a:txBody>
                    <a:bodyPr/>
                    <a:lstStyle/>
                    <a:p>
                      <a:r>
                        <a:rPr lang="en-US" sz="1100" b="0" kern="1200" dirty="0">
                          <a:solidFill>
                            <a:srgbClr val="1A1A1A"/>
                          </a:solidFill>
                          <a:latin typeface="IM Fell English" pitchFamily="34" charset="0"/>
                        </a:rPr>
                        <a:t>Cost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8</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10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100" b="0" kern="1200" dirty="0">
                          <a:solidFill>
                            <a:srgbClr val="1A1A1A"/>
                          </a:solidFill>
                          <a:latin typeface="IM Fell English" pitchFamily="34" charset="0"/>
                        </a:rPr>
                        <a:t>12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61091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a:effectLst/>
      </p:bgPr>
    </p:bg>
    <p:spTree>
      <p:nvGrpSpPr>
        <p:cNvPr id="1" name=""/>
        <p:cNvGrpSpPr/>
        <p:nvPr/>
      </p:nvGrpSpPr>
      <p:grpSpPr>
        <a:xfrm>
          <a:off x="0" y="0"/>
          <a:ext cx="0" cy="0"/>
          <a:chOff x="0" y="0"/>
          <a:chExt cx="0" cy="0"/>
        </a:xfrm>
      </p:grpSpPr>
      <p:pic>
        <p:nvPicPr>
          <p:cNvPr id="60" name="BorderFrame"/>
          <p:cNvPicPr>
            <a:picLocks noChangeAspect="1"/>
          </p:cNvPicPr>
          <p:nvPr/>
        </p:nvPicPr>
        <p:blipFill>
          <a:blip r:embed="rId3"/>
          <a:srcRect t="7820" b="7820"/>
          <a:stretch>
            <a:fillRect/>
          </a:stretch>
        </p:blipFill>
        <p:spPr>
          <a:xfrm>
            <a:off x="0" y="0"/>
            <a:ext cx="12192000" cy="6858000"/>
          </a:xfrm>
          <a:prstGeom prst="rect">
            <a:avLst/>
          </a:prstGeom>
        </p:spPr>
      </p:pic>
      <p:sp>
        <p:nvSpPr>
          <p:cNvPr id="2" name="Text 0"/>
          <p:cNvSpPr/>
          <p:nvPr/>
        </p:nvSpPr>
        <p:spPr>
          <a:xfrm>
            <a:off x="2344188" y="580000"/>
            <a:ext cx="8205811" cy="64008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dirty="0">
                <a:solidFill>
                  <a:srgbClr val="2D4A3E"/>
                </a:solidFill>
                <a:latin typeface="Avara" pitchFamily="34" charset="0"/>
                <a:ea typeface="Avara" pitchFamily="34" charset="-122"/>
                <a:cs typeface="Avara" pitchFamily="34" charset="-120"/>
              </a:rPr>
              <a:t>Our Party</a:t>
            </a:r>
            <a:endParaRPr lang="en-US" sz="2800" dirty="0"/>
          </a:p>
        </p:txBody>
      </p:sp>
      <p:graphicFrame>
        <p:nvGraphicFramePr>
          <p:cNvPr id="100" name="Table 1"/>
          <p:cNvGraphicFramePr>
            <a:graphicFrameLocks noGrp="1"/>
          </p:cNvGraphicFramePr>
          <p:nvPr>
            <p:extLst>
              <p:ext uri="{D42A27DB-BD31-4B8C-83A1-F6EECF244321}">
                <p14:modId xmlns:p14="http://schemas.microsoft.com/office/powerpoint/2010/main" val="4135469081"/>
              </p:ext>
            </p:extLst>
          </p:nvPr>
        </p:nvGraphicFramePr>
        <p:xfrm>
          <a:off x="1100000" y="1350000"/>
          <a:ext cx="9800000" cy="3804800"/>
        </p:xfrm>
        <a:graphic>
          <a:graphicData uri="http://schemas.openxmlformats.org/drawingml/2006/table">
            <a:tbl>
              <a:tblPr firstRow="1" bandRow="1">
                <a:noFill/>
              </a:tblPr>
              <a:tblGrid>
                <a:gridCol w="1100000">
                  <a:extLst>
                    <a:ext uri="{9D8B030D-6E8A-4147-A177-3AD203B41FA5}">
                      <a16:colId xmlns:a16="http://schemas.microsoft.com/office/drawing/2014/main" val="20000"/>
                    </a:ext>
                  </a:extLst>
                </a:gridCol>
                <a:gridCol w="21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gridCol w="2400000">
                  <a:extLst>
                    <a:ext uri="{9D8B030D-6E8A-4147-A177-3AD203B41FA5}">
                      <a16:colId xmlns:a16="http://schemas.microsoft.com/office/drawing/2014/main" val="20004"/>
                    </a:ext>
                  </a:extLst>
                </a:gridCol>
              </a:tblGrid>
              <a:tr h="274519">
                <a:tc>
                  <a:txBody>
                    <a:bodyPr/>
                    <a:lstStyle/>
                    <a:p>
                      <a:pPr algn="l"/>
                      <a:r>
                        <a:rPr lang="en-US" sz="1400" b="1">
                          <a:solidFill>
                            <a:srgbClr val="FFFFFF"/>
                          </a:solidFill>
                          <a:latin typeface="Avara Bold"/>
                          <a:cs typeface="Avara Bold"/>
                        </a:rPr>
                        <a:t>Player</a:t>
                      </a:r>
                    </a:p>
                  </a:txBody>
                  <a:tcPr>
                    <a:solidFill>
                      <a:srgbClr val="2D4A3E"/>
                    </a:solidFill>
                  </a:tcPr>
                </a:tc>
                <a:tc>
                  <a:txBody>
                    <a:bodyPr/>
                    <a:lstStyle/>
                    <a:p>
                      <a:pPr algn="l"/>
                      <a:r>
                        <a:rPr lang="en-US" sz="1400" b="1" dirty="0">
                          <a:solidFill>
                            <a:srgbClr val="FFFFFF"/>
                          </a:solidFill>
                          <a:latin typeface="Avara Bold"/>
                          <a:cs typeface="Avara Bold"/>
                        </a:rPr>
                        <a:t>Playbook</a:t>
                      </a:r>
                    </a:p>
                  </a:txBody>
                  <a:tcPr>
                    <a:solidFill>
                      <a:srgbClr val="2D4A3E"/>
                    </a:solidFill>
                  </a:tcPr>
                </a:tc>
                <a:tc>
                  <a:txBody>
                    <a:bodyPr/>
                    <a:lstStyle/>
                    <a:p>
                      <a:pPr algn="l"/>
                      <a:r>
                        <a:rPr lang="en-US" sz="1400" b="1">
                          <a:solidFill>
                            <a:srgbClr val="FFFFFF"/>
                          </a:solidFill>
                          <a:latin typeface="Avara Bold"/>
                          <a:cs typeface="Avara Bold"/>
                        </a:rPr>
                        <a:t>Background</a:t>
                      </a:r>
                    </a:p>
                  </a:txBody>
                  <a:tcPr>
                    <a:solidFill>
                      <a:srgbClr val="2D4A3E"/>
                    </a:solidFill>
                  </a:tcPr>
                </a:tc>
                <a:tc>
                  <a:txBody>
                    <a:bodyPr/>
                    <a:lstStyle/>
                    <a:p>
                      <a:pPr algn="l"/>
                      <a:r>
                        <a:rPr lang="en-US" sz="1400" b="1">
                          <a:solidFill>
                            <a:srgbClr val="FFFFFF"/>
                          </a:solidFill>
                          <a:latin typeface="Avara Bold"/>
                          <a:cs typeface="Avara Bold"/>
                        </a:rPr>
                        <a:t>God</a:t>
                      </a:r>
                    </a:p>
                  </a:txBody>
                  <a:tcPr>
                    <a:solidFill>
                      <a:srgbClr val="2D4A3E"/>
                    </a:solidFill>
                  </a:tcPr>
                </a:tc>
                <a:tc>
                  <a:txBody>
                    <a:bodyPr/>
                    <a:lstStyle/>
                    <a:p>
                      <a:pPr algn="l"/>
                      <a:r>
                        <a:rPr lang="en-US" sz="1400" b="1">
                          <a:solidFill>
                            <a:srgbClr val="FFFFFF"/>
                          </a:solidFill>
                          <a:latin typeface="Avara Bold"/>
                          <a:cs typeface="Avara Bold"/>
                        </a:rPr>
                        <a:t>Domain</a:t>
                      </a:r>
                    </a:p>
                  </a:txBody>
                  <a:tcPr>
                    <a:solidFill>
                      <a:srgbClr val="2D4A3E"/>
                    </a:solidFill>
                  </a:tcPr>
                </a:tc>
                <a:extLst>
                  <a:ext uri="{0D108BD9-81ED-4DB2-BD59-A6C34878D82A}">
                    <a16:rowId xmlns:a16="http://schemas.microsoft.com/office/drawing/2014/main" val="10000"/>
                  </a:ext>
                </a:extLst>
              </a:tr>
              <a:tr h="700000">
                <a:tc>
                  <a:txBody>
                    <a:bodyPr/>
                    <a:lstStyle/>
                    <a:p>
                      <a:pPr algn="l"/>
                      <a:r>
                        <a:rPr lang="en-US" sz="1800" dirty="0">
                          <a:solidFill>
                            <a:schemeClr val="tx1">
                              <a:lumMod val="65000"/>
                              <a:lumOff val="35000"/>
                            </a:schemeClr>
                          </a:solidFill>
                          <a:latin typeface="IM FELL English Roman"/>
                          <a:cs typeface="IM FELL English Roman"/>
                        </a:rPr>
                        <a:t>David</a:t>
                      </a:r>
                    </a:p>
                  </a:txBody>
                  <a:tcPr>
                    <a:noFill/>
                  </a:tcPr>
                </a:tc>
                <a:tc>
                  <a:txBody>
                    <a:bodyPr/>
                    <a:lstStyle/>
                    <a:p>
                      <a:pPr algn="l"/>
                      <a:r>
                        <a:rPr lang="en-US" sz="1800" dirty="0">
                          <a:solidFill>
                            <a:schemeClr val="tx1">
                              <a:lumMod val="65000"/>
                              <a:lumOff val="35000"/>
                            </a:schemeClr>
                          </a:solidFill>
                          <a:latin typeface="IM FELL English Roman"/>
                          <a:cs typeface="IM FELL English Roman"/>
                        </a:rPr>
                        <a:t>The Judge</a:t>
                      </a:r>
                    </a:p>
                  </a:txBody>
                  <a:tcPr>
                    <a:noFill/>
                  </a:tcPr>
                </a:tc>
                <a:tc>
                  <a:txBody>
                    <a:bodyPr/>
                    <a:lstStyle/>
                    <a:p>
                      <a:pPr algn="l"/>
                      <a:r>
                        <a:rPr lang="en-US" sz="1800">
                          <a:solidFill>
                            <a:schemeClr val="tx1">
                              <a:lumMod val="65000"/>
                              <a:lumOff val="35000"/>
                            </a:schemeClr>
                          </a:solidFill>
                          <a:latin typeface="IM FELL English Roman"/>
                          <a:cs typeface="IM FELL English Roman"/>
                        </a:rPr>
                        <a:t>Missionary</a:t>
                      </a:r>
                    </a:p>
                  </a:txBody>
                  <a:tcPr>
                    <a:noFill/>
                  </a:tcPr>
                </a:tc>
                <a:tc>
                  <a:txBody>
                    <a:bodyPr/>
                    <a:lstStyle/>
                    <a:p>
                      <a:pPr algn="l"/>
                      <a:r>
                        <a:rPr lang="en-US" sz="1800">
                          <a:solidFill>
                            <a:schemeClr val="tx1">
                              <a:lumMod val="65000"/>
                              <a:lumOff val="35000"/>
                            </a:schemeClr>
                          </a:solidFill>
                          <a:latin typeface="IM FELL English Roman"/>
                          <a:cs typeface="IM FELL English Roman"/>
                        </a:rPr>
                        <a:t>Aratis, the Lawkeeper</a:t>
                      </a:r>
                    </a:p>
                  </a:txBody>
                  <a:tcPr>
                    <a:noFill/>
                  </a:tcPr>
                </a:tc>
                <a:tc>
                  <a:txBody>
                    <a:bodyPr/>
                    <a:lstStyle/>
                    <a:p>
                      <a:pPr algn="l"/>
                      <a:r>
                        <a:rPr lang="en-US" sz="1800">
                          <a:solidFill>
                            <a:schemeClr val="tx1">
                              <a:lumMod val="65000"/>
                              <a:lumOff val="35000"/>
                            </a:schemeClr>
                          </a:solidFill>
                          <a:latin typeface="IM FELL English Roman"/>
                          <a:cs typeface="IM FELL English Roman"/>
                        </a:rPr>
                        <a:t>Law, order, civilization</a:t>
                      </a:r>
                    </a:p>
                  </a:txBody>
                  <a:tcPr>
                    <a:noFill/>
                  </a:tcPr>
                </a:tc>
                <a:extLst>
                  <a:ext uri="{0D108BD9-81ED-4DB2-BD59-A6C34878D82A}">
                    <a16:rowId xmlns:a16="http://schemas.microsoft.com/office/drawing/2014/main" val="10001"/>
                  </a:ext>
                </a:extLst>
              </a:tr>
              <a:tr h="700000">
                <a:tc>
                  <a:txBody>
                    <a:bodyPr/>
                    <a:lstStyle/>
                    <a:p>
                      <a:pPr algn="l"/>
                      <a:r>
                        <a:rPr lang="en-US" sz="1800">
                          <a:solidFill>
                            <a:schemeClr val="tx1">
                              <a:lumMod val="65000"/>
                              <a:lumOff val="35000"/>
                            </a:schemeClr>
                          </a:solidFill>
                          <a:latin typeface="IM FELL English Roman"/>
                          <a:cs typeface="IM FELL English Roman"/>
                        </a:rPr>
                        <a:t>Danny</a:t>
                      </a:r>
                    </a:p>
                  </a:txBody>
                  <a:tcPr>
                    <a:noFill/>
                  </a:tcPr>
                </a:tc>
                <a:tc>
                  <a:txBody>
                    <a:bodyPr/>
                    <a:lstStyle/>
                    <a:p>
                      <a:pPr algn="l"/>
                      <a:r>
                        <a:rPr lang="en-US" sz="1800" dirty="0">
                          <a:solidFill>
                            <a:schemeClr val="tx1">
                              <a:lumMod val="65000"/>
                              <a:lumOff val="35000"/>
                            </a:schemeClr>
                          </a:solidFill>
                          <a:latin typeface="IM FELL English Roman"/>
                          <a:cs typeface="IM FELL English Roman"/>
                        </a:rPr>
                        <a:t>The Seeker</a:t>
                      </a:r>
                    </a:p>
                  </a:txBody>
                  <a:tcPr>
                    <a:noFill/>
                  </a:tcPr>
                </a:tc>
                <a:tc>
                  <a:txBody>
                    <a:bodyPr/>
                    <a:lstStyle/>
                    <a:p>
                      <a:pPr algn="l"/>
                      <a:r>
                        <a:rPr lang="en-US" sz="1800" dirty="0">
                          <a:solidFill>
                            <a:schemeClr val="tx1">
                              <a:lumMod val="65000"/>
                              <a:lumOff val="35000"/>
                            </a:schemeClr>
                          </a:solidFill>
                          <a:latin typeface="IM FELL English Roman"/>
                          <a:cs typeface="IM FELL English Roman"/>
                        </a:rPr>
                        <a:t>Antiquarian</a:t>
                      </a:r>
                    </a:p>
                  </a:txBody>
                  <a:tcPr>
                    <a:noFill/>
                  </a:tcPr>
                </a:tc>
                <a:tc>
                  <a:txBody>
                    <a:bodyPr/>
                    <a:lstStyle/>
                    <a:p>
                      <a:pPr algn="l"/>
                      <a:r>
                        <a:rPr lang="en-US" sz="1800" dirty="0">
                          <a:solidFill>
                            <a:schemeClr val="tx1">
                              <a:lumMod val="65000"/>
                              <a:lumOff val="35000"/>
                            </a:schemeClr>
                          </a:solidFill>
                          <a:latin typeface="IM FELL English Roman"/>
                          <a:cs typeface="IM FELL English Roman"/>
                        </a:rPr>
                        <a:t>—</a:t>
                      </a:r>
                    </a:p>
                  </a:txBody>
                  <a:tcPr>
                    <a:noFill/>
                  </a:tcPr>
                </a:tc>
                <a:tc>
                  <a:txBody>
                    <a:bodyPr/>
                    <a:lstStyle/>
                    <a:p>
                      <a:pPr algn="l"/>
                      <a:r>
                        <a:rPr lang="en-US" sz="1800" dirty="0">
                          <a:solidFill>
                            <a:schemeClr val="tx1">
                              <a:lumMod val="65000"/>
                              <a:lumOff val="35000"/>
                            </a:schemeClr>
                          </a:solidFill>
                          <a:latin typeface="IM FELL English Roman"/>
                          <a:cs typeface="IM FELL English Roman"/>
                        </a:rPr>
                        <a:t>Studies arcana, not gods?</a:t>
                      </a:r>
                    </a:p>
                  </a:txBody>
                  <a:tcPr>
                    <a:noFill/>
                  </a:tcPr>
                </a:tc>
                <a:extLst>
                  <a:ext uri="{0D108BD9-81ED-4DB2-BD59-A6C34878D82A}">
                    <a16:rowId xmlns:a16="http://schemas.microsoft.com/office/drawing/2014/main" val="10002"/>
                  </a:ext>
                </a:extLst>
              </a:tr>
              <a:tr h="700000">
                <a:tc>
                  <a:txBody>
                    <a:bodyPr/>
                    <a:lstStyle/>
                    <a:p>
                      <a:pPr algn="l"/>
                      <a:r>
                        <a:rPr lang="en-US" sz="1800">
                          <a:solidFill>
                            <a:schemeClr val="tx1">
                              <a:lumMod val="65000"/>
                              <a:lumOff val="35000"/>
                            </a:schemeClr>
                          </a:solidFill>
                          <a:latin typeface="IM FELL English Roman"/>
                          <a:cs typeface="IM FELL English Roman"/>
                        </a:rPr>
                        <a:t>James</a:t>
                      </a:r>
                    </a:p>
                  </a:txBody>
                  <a:tcPr>
                    <a:noFill/>
                  </a:tcPr>
                </a:tc>
                <a:tc>
                  <a:txBody>
                    <a:bodyPr/>
                    <a:lstStyle/>
                    <a:p>
                      <a:pPr algn="l"/>
                      <a:r>
                        <a:rPr lang="en-US" sz="1800">
                          <a:solidFill>
                            <a:schemeClr val="tx1">
                              <a:lumMod val="65000"/>
                              <a:lumOff val="35000"/>
                            </a:schemeClr>
                          </a:solidFill>
                          <a:latin typeface="IM FELL English Roman"/>
                          <a:cs typeface="IM FELL English Roman"/>
                        </a:rPr>
                        <a:t>The Blessed</a:t>
                      </a:r>
                    </a:p>
                  </a:txBody>
                  <a:tcPr>
                    <a:noFill/>
                  </a:tcPr>
                </a:tc>
                <a:tc>
                  <a:txBody>
                    <a:bodyPr/>
                    <a:lstStyle/>
                    <a:p>
                      <a:pPr algn="l"/>
                      <a:r>
                        <a:rPr lang="en-US" sz="1800">
                          <a:solidFill>
                            <a:schemeClr val="tx1">
                              <a:lumMod val="65000"/>
                              <a:lumOff val="35000"/>
                            </a:schemeClr>
                          </a:solidFill>
                          <a:latin typeface="IM FELL English Roman"/>
                          <a:cs typeface="IM FELL English Roman"/>
                        </a:rPr>
                        <a:t>TBD</a:t>
                      </a:r>
                    </a:p>
                  </a:txBody>
                  <a:tcPr>
                    <a:noFill/>
                  </a:tcPr>
                </a:tc>
                <a:tc>
                  <a:txBody>
                    <a:bodyPr/>
                    <a:lstStyle/>
                    <a:p>
                      <a:pPr algn="l"/>
                      <a:r>
                        <a:rPr lang="en-US" sz="1800" dirty="0">
                          <a:solidFill>
                            <a:schemeClr val="tx1">
                              <a:lumMod val="65000"/>
                              <a:lumOff val="35000"/>
                            </a:schemeClr>
                          </a:solidFill>
                          <a:latin typeface="IM FELL English Roman"/>
                          <a:cs typeface="IM FELL English Roman"/>
                        </a:rPr>
                        <a:t>Danu, the Earth Mother</a:t>
                      </a:r>
                    </a:p>
                  </a:txBody>
                  <a:tcPr>
                    <a:noFill/>
                  </a:tcPr>
                </a:tc>
                <a:tc>
                  <a:txBody>
                    <a:bodyPr/>
                    <a:lstStyle/>
                    <a:p>
                      <a:pPr algn="l"/>
                      <a:r>
                        <a:rPr lang="en-US" sz="1800" dirty="0">
                          <a:solidFill>
                            <a:schemeClr val="tx1">
                              <a:lumMod val="65000"/>
                              <a:lumOff val="35000"/>
                            </a:schemeClr>
                          </a:solidFill>
                          <a:latin typeface="IM FELL English Roman"/>
                          <a:cs typeface="IM FELL English Roman"/>
                        </a:rPr>
                        <a:t>Earth, nature, fertility</a:t>
                      </a:r>
                    </a:p>
                  </a:txBody>
                  <a:tcPr>
                    <a:noFill/>
                  </a:tcPr>
                </a:tc>
                <a:extLst>
                  <a:ext uri="{0D108BD9-81ED-4DB2-BD59-A6C34878D82A}">
                    <a16:rowId xmlns:a16="http://schemas.microsoft.com/office/drawing/2014/main" val="10003"/>
                  </a:ext>
                </a:extLst>
              </a:tr>
              <a:tr h="700000">
                <a:tc>
                  <a:txBody>
                    <a:bodyPr/>
                    <a:lstStyle/>
                    <a:p>
                      <a:pPr algn="l"/>
                      <a:r>
                        <a:rPr lang="en-US" sz="1800">
                          <a:solidFill>
                            <a:schemeClr val="tx1">
                              <a:lumMod val="65000"/>
                              <a:lumOff val="35000"/>
                            </a:schemeClr>
                          </a:solidFill>
                          <a:latin typeface="IM FELL English Roman"/>
                          <a:cs typeface="IM FELL English Roman"/>
                        </a:rPr>
                        <a:t>Kari</a:t>
                      </a:r>
                    </a:p>
                  </a:txBody>
                  <a:tcPr>
                    <a:noFill/>
                  </a:tcPr>
                </a:tc>
                <a:tc>
                  <a:txBody>
                    <a:bodyPr/>
                    <a:lstStyle/>
                    <a:p>
                      <a:pPr algn="l"/>
                      <a:r>
                        <a:rPr lang="en-US" sz="1800">
                          <a:solidFill>
                            <a:schemeClr val="tx1">
                              <a:lumMod val="65000"/>
                              <a:lumOff val="35000"/>
                            </a:schemeClr>
                          </a:solidFill>
                          <a:latin typeface="IM FELL English Roman"/>
                          <a:cs typeface="IM FELL English Roman"/>
                        </a:rPr>
                        <a:t>The Would-Be Hero</a:t>
                      </a:r>
                    </a:p>
                  </a:txBody>
                  <a:tcPr>
                    <a:noFill/>
                  </a:tcPr>
                </a:tc>
                <a:tc>
                  <a:txBody>
                    <a:bodyPr/>
                    <a:lstStyle/>
                    <a:p>
                      <a:pPr algn="l"/>
                      <a:r>
                        <a:rPr lang="en-US" sz="1800">
                          <a:solidFill>
                            <a:schemeClr val="tx1">
                              <a:lumMod val="65000"/>
                              <a:lumOff val="35000"/>
                            </a:schemeClr>
                          </a:solidFill>
                          <a:latin typeface="IM FELL English Roman"/>
                          <a:cs typeface="IM FELL English Roman"/>
                        </a:rPr>
                        <a:t>TBD</a:t>
                      </a:r>
                    </a:p>
                  </a:txBody>
                  <a:tcPr>
                    <a:noFill/>
                  </a:tcPr>
                </a:tc>
                <a:tc>
                  <a:txBody>
                    <a:bodyPr/>
                    <a:lstStyle/>
                    <a:p>
                      <a:pPr algn="l"/>
                      <a:r>
                        <a:rPr lang="en-US" sz="1800">
                          <a:solidFill>
                            <a:schemeClr val="tx1">
                              <a:lumMod val="65000"/>
                              <a:lumOff val="35000"/>
                            </a:schemeClr>
                          </a:solidFill>
                          <a:latin typeface="IM FELL English Roman"/>
                          <a:cs typeface="IM FELL English Roman"/>
                        </a:rPr>
                        <a:t>—</a:t>
                      </a:r>
                    </a:p>
                  </a:txBody>
                  <a:tcPr>
                    <a:noFill/>
                  </a:tcPr>
                </a:tc>
                <a:tc>
                  <a:txBody>
                    <a:bodyPr/>
                    <a:lstStyle/>
                    <a:p>
                      <a:pPr algn="l"/>
                      <a:r>
                        <a:rPr lang="en-US" sz="1800" dirty="0">
                          <a:solidFill>
                            <a:schemeClr val="tx1">
                              <a:lumMod val="65000"/>
                              <a:lumOff val="35000"/>
                            </a:schemeClr>
                          </a:solidFill>
                          <a:latin typeface="IM FELL English Roman"/>
                          <a:cs typeface="IM FELL English Roman"/>
                        </a:rPr>
                        <a:t>Mortal grit, no divine patron?</a:t>
                      </a:r>
                    </a:p>
                  </a:txBody>
                  <a:tcPr>
                    <a:noFill/>
                  </a:tcPr>
                </a:tc>
                <a:extLst>
                  <a:ext uri="{0D108BD9-81ED-4DB2-BD59-A6C34878D82A}">
                    <a16:rowId xmlns:a16="http://schemas.microsoft.com/office/drawing/2014/main" val="10004"/>
                  </a:ext>
                </a:extLst>
              </a:tr>
              <a:tr h="700000">
                <a:tc>
                  <a:txBody>
                    <a:bodyPr/>
                    <a:lstStyle/>
                    <a:p>
                      <a:pPr algn="l"/>
                      <a:r>
                        <a:rPr lang="en-US" sz="1800">
                          <a:solidFill>
                            <a:schemeClr val="tx1">
                              <a:lumMod val="65000"/>
                              <a:lumOff val="35000"/>
                            </a:schemeClr>
                          </a:solidFill>
                          <a:latin typeface="IM FELL English Roman"/>
                          <a:cs typeface="IM FELL English Roman"/>
                        </a:rPr>
                        <a:t>Dan</a:t>
                      </a:r>
                    </a:p>
                  </a:txBody>
                  <a:tcPr>
                    <a:noFill/>
                  </a:tcPr>
                </a:tc>
                <a:tc>
                  <a:txBody>
                    <a:bodyPr/>
                    <a:lstStyle/>
                    <a:p>
                      <a:pPr algn="l"/>
                      <a:r>
                        <a:rPr lang="en-US" sz="1800">
                          <a:solidFill>
                            <a:schemeClr val="tx1">
                              <a:lumMod val="65000"/>
                              <a:lumOff val="35000"/>
                            </a:schemeClr>
                          </a:solidFill>
                          <a:latin typeface="IM FELL English Roman"/>
                          <a:cs typeface="IM FELL English Roman"/>
                        </a:rPr>
                        <a:t>The Lightbearer</a:t>
                      </a:r>
                    </a:p>
                  </a:txBody>
                  <a:tcPr>
                    <a:noFill/>
                  </a:tcPr>
                </a:tc>
                <a:tc>
                  <a:txBody>
                    <a:bodyPr/>
                    <a:lstStyle/>
                    <a:p>
                      <a:pPr algn="l"/>
                      <a:r>
                        <a:rPr lang="en-US" sz="1800">
                          <a:solidFill>
                            <a:schemeClr val="tx1">
                              <a:lumMod val="65000"/>
                              <a:lumOff val="35000"/>
                            </a:schemeClr>
                          </a:solidFill>
                          <a:latin typeface="IM FELL English Roman"/>
                          <a:cs typeface="IM FELL English Roman"/>
                        </a:rPr>
                        <a:t>Auspicious Birth</a:t>
                      </a:r>
                    </a:p>
                  </a:txBody>
                  <a:tcPr>
                    <a:noFill/>
                  </a:tcPr>
                </a:tc>
                <a:tc>
                  <a:txBody>
                    <a:bodyPr/>
                    <a:lstStyle/>
                    <a:p>
                      <a:pPr algn="l"/>
                      <a:r>
                        <a:rPr lang="en-US" sz="1800">
                          <a:solidFill>
                            <a:schemeClr val="tx1">
                              <a:lumMod val="65000"/>
                              <a:lumOff val="35000"/>
                            </a:schemeClr>
                          </a:solidFill>
                          <a:latin typeface="IM FELL English Roman"/>
                          <a:cs typeface="IM FELL English Roman"/>
                        </a:rPr>
                        <a:t>Helior, the Daybringer</a:t>
                      </a:r>
                    </a:p>
                  </a:txBody>
                  <a:tcPr>
                    <a:noFill/>
                  </a:tcPr>
                </a:tc>
                <a:tc>
                  <a:txBody>
                    <a:bodyPr/>
                    <a:lstStyle/>
                    <a:p>
                      <a:pPr algn="l"/>
                      <a:r>
                        <a:rPr lang="en-US" sz="1800" dirty="0">
                          <a:solidFill>
                            <a:schemeClr val="tx1">
                              <a:lumMod val="65000"/>
                              <a:lumOff val="35000"/>
                            </a:schemeClr>
                          </a:solidFill>
                          <a:latin typeface="IM FELL English Roman"/>
                          <a:cs typeface="IM FELL English Roman"/>
                        </a:rPr>
                        <a:t>Light, sun, truth</a:t>
                      </a:r>
                    </a:p>
                  </a:txBody>
                  <a:tcP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ption 2 - Organic Flow"/>
          <p:cNvPicPr>
            <a:picLocks noChangeAspect="1"/>
          </p:cNvPicPr>
          <p:nvPr/>
        </p:nvPicPr>
        <p:blipFill>
          <a:blip r:embed="rId2"/>
          <a:srcRect t="7813" b="7813"/>
          <a:stretch>
            <a:fillRect/>
          </a:stretch>
        </p:blipFill>
        <p:spPr>
          <a:xfrm>
            <a:off x="0" y="0"/>
            <a:ext cx="12192000" cy="6858000"/>
          </a:xfrm>
          <a:prstGeom prst="rect">
            <a:avLst/>
          </a:prstGeom>
        </p:spPr>
      </p:pic>
      <p:sp>
        <p:nvSpPr>
          <p:cNvPr id="10" name="Phase5"/>
          <p:cNvSpPr txBox="1"/>
          <p:nvPr/>
        </p:nvSpPr>
        <p:spPr>
          <a:xfrm>
            <a:off x="1463477" y="1673995"/>
            <a:ext cx="1500000" cy="1450000"/>
          </a:xfrm>
          <a:prstGeom prst="rect">
            <a:avLst/>
          </a:prstGeom>
          <a:noFill/>
        </p:spPr>
        <p:txBody>
          <a:bodyPr wrap="square" lIns="72000" tIns="36000" rIns="72000" bIns="36000" anchor="t"/>
          <a:lstStyle/>
          <a:p>
            <a:pPr algn="l">
              <a:spcAft>
                <a:spcPts val="200"/>
              </a:spcAft>
            </a:pPr>
            <a:r>
              <a:rPr lang="en-US" sz="1400" b="1" dirty="0">
                <a:solidFill>
                  <a:srgbClr val="2D4A3E"/>
                </a:solidFill>
                <a:latin typeface="Avara"/>
              </a:rPr>
              <a:t>Create Characters</a:t>
            </a:r>
          </a:p>
          <a:p>
            <a:pPr algn="l">
              <a:spcAft>
                <a:spcPts val="200"/>
              </a:spcAft>
            </a:pPr>
            <a:r>
              <a:rPr lang="en-US" sz="1000" dirty="0">
                <a:solidFill>
                  <a:srgbClr val="1A1A1A"/>
                </a:solidFill>
                <a:latin typeface="IM FELL English Roman"/>
              </a:rPr>
              <a:t>Choose background, stats, gear, instinct, appearance, origin, name</a:t>
            </a:r>
          </a:p>
          <a:p>
            <a:pPr algn="l"/>
            <a:r>
              <a:rPr lang="en-US" sz="900" i="1" dirty="0">
                <a:solidFill>
                  <a:srgbClr val="666666"/>
                </a:solidFill>
                <a:latin typeface="IM FELL English Roman"/>
              </a:rPr>
              <a:t>p.21–28  |  ~20 min</a:t>
            </a:r>
          </a:p>
        </p:txBody>
      </p:sp>
      <p:sp>
        <p:nvSpPr>
          <p:cNvPr id="11" name="Phase6"/>
          <p:cNvSpPr txBox="1"/>
          <p:nvPr/>
        </p:nvSpPr>
        <p:spPr>
          <a:xfrm>
            <a:off x="3755571" y="1673995"/>
            <a:ext cx="1711406" cy="1450000"/>
          </a:xfrm>
          <a:prstGeom prst="rect">
            <a:avLst/>
          </a:prstGeom>
          <a:noFill/>
        </p:spPr>
        <p:txBody>
          <a:bodyPr wrap="square" lIns="72000" tIns="36000" rIns="72000" bIns="36000" anchor="t"/>
          <a:lstStyle/>
          <a:p>
            <a:pPr algn="l">
              <a:spcAft>
                <a:spcPts val="200"/>
              </a:spcAft>
            </a:pPr>
            <a:r>
              <a:rPr lang="en-US" sz="1400" b="1" dirty="0">
                <a:solidFill>
                  <a:srgbClr val="2D4A3E"/>
                </a:solidFill>
                <a:latin typeface="Avara"/>
              </a:rPr>
              <a:t>Turn 1: Vital Info</a:t>
            </a:r>
          </a:p>
          <a:p>
            <a:pPr algn="l">
              <a:spcAft>
                <a:spcPts val="200"/>
              </a:spcAft>
            </a:pPr>
            <a:r>
              <a:rPr lang="en-US" sz="1000" dirty="0">
                <a:solidFill>
                  <a:srgbClr val="1A1A1A"/>
                </a:solidFill>
                <a:latin typeface="IM FELL English Roman"/>
              </a:rPr>
              <a:t>Name, pronouns, background, origin, appearance. GM asks background Qs</a:t>
            </a:r>
          </a:p>
          <a:p>
            <a:pPr algn="l"/>
            <a:r>
              <a:rPr lang="en-US" sz="900" i="1" dirty="0">
                <a:solidFill>
                  <a:srgbClr val="666666"/>
                </a:solidFill>
                <a:latin typeface="IM FELL English Roman"/>
              </a:rPr>
              <a:t>p.28–29  |  ~15 min</a:t>
            </a:r>
          </a:p>
        </p:txBody>
      </p:sp>
      <p:sp>
        <p:nvSpPr>
          <p:cNvPr id="12" name="Phase7"/>
          <p:cNvSpPr txBox="1"/>
          <p:nvPr/>
        </p:nvSpPr>
        <p:spPr>
          <a:xfrm>
            <a:off x="6487977" y="1673995"/>
            <a:ext cx="1785000" cy="1500000"/>
          </a:xfrm>
          <a:prstGeom prst="rect">
            <a:avLst/>
          </a:prstGeom>
          <a:noFill/>
        </p:spPr>
        <p:txBody>
          <a:bodyPr wrap="square" lIns="72000" tIns="36000" rIns="72000" bIns="36000" anchor="t"/>
          <a:lstStyle/>
          <a:p>
            <a:pPr algn="l">
              <a:spcAft>
                <a:spcPts val="200"/>
              </a:spcAft>
            </a:pPr>
            <a:r>
              <a:rPr lang="en-US" sz="1400" b="1" dirty="0">
                <a:solidFill>
                  <a:srgbClr val="2D4A3E"/>
                </a:solidFill>
                <a:latin typeface="Avara"/>
              </a:rPr>
              <a:t>Turn 2: Possessions</a:t>
            </a:r>
          </a:p>
          <a:p>
            <a:pPr algn="l">
              <a:spcAft>
                <a:spcPts val="200"/>
              </a:spcAft>
            </a:pPr>
            <a:r>
              <a:rPr lang="en-US" sz="1000" dirty="0">
                <a:solidFill>
                  <a:srgbClr val="1A1A1A"/>
                </a:solidFill>
                <a:latin typeface="IM FELL English Roman"/>
              </a:rPr>
              <a:t>Special gear, how you contribute to the village beyond the fields</a:t>
            </a:r>
          </a:p>
          <a:p>
            <a:pPr algn="l"/>
            <a:r>
              <a:rPr lang="en-US" sz="900" i="1" dirty="0">
                <a:solidFill>
                  <a:srgbClr val="666666"/>
                </a:solidFill>
                <a:latin typeface="IM FELL English Roman"/>
              </a:rPr>
              <a:t>p.29  |  ~10 min</a:t>
            </a:r>
          </a:p>
        </p:txBody>
      </p:sp>
      <p:sp>
        <p:nvSpPr>
          <p:cNvPr id="13" name="Phase8"/>
          <p:cNvSpPr txBox="1"/>
          <p:nvPr/>
        </p:nvSpPr>
        <p:spPr>
          <a:xfrm>
            <a:off x="9130977" y="1673995"/>
            <a:ext cx="1430000" cy="1500000"/>
          </a:xfrm>
          <a:prstGeom prst="rect">
            <a:avLst/>
          </a:prstGeom>
          <a:noFill/>
        </p:spPr>
        <p:txBody>
          <a:bodyPr wrap="square" lIns="72000" tIns="36000" rIns="72000" bIns="36000" anchor="t"/>
          <a:lstStyle/>
          <a:p>
            <a:pPr algn="l">
              <a:spcAft>
                <a:spcPts val="200"/>
              </a:spcAft>
            </a:pPr>
            <a:r>
              <a:rPr lang="en-US" sz="1200" b="1" dirty="0">
                <a:solidFill>
                  <a:srgbClr val="2D4A3E"/>
                </a:solidFill>
                <a:latin typeface="Avara"/>
              </a:rPr>
              <a:t>Turn 3: Worldbuilding</a:t>
            </a:r>
          </a:p>
          <a:p>
            <a:pPr algn="l">
              <a:spcAft>
                <a:spcPts val="200"/>
              </a:spcAft>
            </a:pPr>
            <a:r>
              <a:rPr lang="en-US" sz="1000" dirty="0">
                <a:solidFill>
                  <a:srgbClr val="1A1A1A"/>
                </a:solidFill>
                <a:latin typeface="IM FELL English Roman"/>
              </a:rPr>
              <a:t>Define your god, your arcana, your fears and anger</a:t>
            </a:r>
          </a:p>
          <a:p>
            <a:pPr algn="l"/>
            <a:r>
              <a:rPr lang="en-US" sz="900" i="1" dirty="0">
                <a:solidFill>
                  <a:srgbClr val="666666"/>
                </a:solidFill>
                <a:latin typeface="IM FELL English Roman"/>
              </a:rPr>
              <a:t>p.29–30  |  ~15 min</a:t>
            </a:r>
          </a:p>
        </p:txBody>
      </p:sp>
      <p:sp>
        <p:nvSpPr>
          <p:cNvPr id="14" name="Phase9"/>
          <p:cNvSpPr txBox="1"/>
          <p:nvPr/>
        </p:nvSpPr>
        <p:spPr>
          <a:xfrm>
            <a:off x="2010977" y="3650000"/>
            <a:ext cx="1500000" cy="1450000"/>
          </a:xfrm>
          <a:prstGeom prst="rect">
            <a:avLst/>
          </a:prstGeom>
          <a:noFill/>
        </p:spPr>
        <p:txBody>
          <a:bodyPr wrap="square" lIns="72000" tIns="36000" rIns="72000" bIns="36000" anchor="t"/>
          <a:lstStyle/>
          <a:p>
            <a:pPr algn="l">
              <a:spcAft>
                <a:spcPts val="200"/>
              </a:spcAft>
            </a:pPr>
            <a:r>
              <a:rPr lang="en-US" sz="1200" b="1" dirty="0">
                <a:solidFill>
                  <a:srgbClr val="2D4A3E"/>
                </a:solidFill>
                <a:latin typeface="Avara"/>
              </a:rPr>
              <a:t>Turns 4–5: NPC Links</a:t>
            </a:r>
          </a:p>
          <a:p>
            <a:pPr algn="l">
              <a:spcAft>
                <a:spcPts val="200"/>
              </a:spcAft>
            </a:pPr>
            <a:r>
              <a:rPr lang="en-US" sz="1000" dirty="0">
                <a:solidFill>
                  <a:srgbClr val="1A1A1A"/>
                </a:solidFill>
                <a:latin typeface="IM FELL English Roman"/>
              </a:rPr>
              <a:t>Name NPCs. Who loves you? Who do you owe? Who doubts you?</a:t>
            </a:r>
          </a:p>
          <a:p>
            <a:pPr algn="l"/>
            <a:r>
              <a:rPr lang="en-US" sz="900" i="1" dirty="0">
                <a:solidFill>
                  <a:srgbClr val="666666"/>
                </a:solidFill>
                <a:latin typeface="IM FELL English Roman"/>
              </a:rPr>
              <a:t>p.30  |  ~15 min</a:t>
            </a:r>
          </a:p>
        </p:txBody>
      </p:sp>
      <p:sp>
        <p:nvSpPr>
          <p:cNvPr id="15" name="Phase10"/>
          <p:cNvSpPr txBox="1"/>
          <p:nvPr/>
        </p:nvSpPr>
        <p:spPr>
          <a:xfrm>
            <a:off x="4249977" y="3650000"/>
            <a:ext cx="1600000" cy="1450000"/>
          </a:xfrm>
          <a:prstGeom prst="rect">
            <a:avLst/>
          </a:prstGeom>
          <a:noFill/>
        </p:spPr>
        <p:txBody>
          <a:bodyPr wrap="square" lIns="72000" tIns="36000" rIns="72000" bIns="36000" anchor="t"/>
          <a:lstStyle/>
          <a:p>
            <a:pPr algn="l">
              <a:spcAft>
                <a:spcPts val="200"/>
              </a:spcAft>
            </a:pPr>
            <a:r>
              <a:rPr lang="en-US" sz="1200" b="1" dirty="0">
                <a:solidFill>
                  <a:srgbClr val="2D4A3E"/>
                </a:solidFill>
                <a:latin typeface="Avara"/>
              </a:rPr>
              <a:t>Turns 6–7: PC Links</a:t>
            </a:r>
          </a:p>
          <a:p>
            <a:pPr algn="l">
              <a:spcAft>
                <a:spcPts val="200"/>
              </a:spcAft>
            </a:pPr>
            <a:r>
              <a:rPr lang="en-US" sz="1000" dirty="0">
                <a:solidFill>
                  <a:srgbClr val="1A1A1A"/>
                </a:solidFill>
                <a:latin typeface="IM FELL English Roman"/>
              </a:rPr>
              <a:t>Ask fellow PCs questions. Build bonds between characters</a:t>
            </a:r>
          </a:p>
          <a:p>
            <a:pPr algn="l"/>
            <a:r>
              <a:rPr lang="en-US" sz="900" i="1" dirty="0">
                <a:solidFill>
                  <a:srgbClr val="666666"/>
                </a:solidFill>
                <a:latin typeface="IM FELL English Roman"/>
              </a:rPr>
              <a:t>p.30–31  |  ~10 min</a:t>
            </a:r>
          </a:p>
        </p:txBody>
      </p:sp>
      <p:sp>
        <p:nvSpPr>
          <p:cNvPr id="16" name="Phase11"/>
          <p:cNvSpPr txBox="1"/>
          <p:nvPr/>
        </p:nvSpPr>
        <p:spPr>
          <a:xfrm>
            <a:off x="6630977" y="3650000"/>
            <a:ext cx="1950000" cy="1450000"/>
          </a:xfrm>
          <a:prstGeom prst="rect">
            <a:avLst/>
          </a:prstGeom>
          <a:noFill/>
        </p:spPr>
        <p:txBody>
          <a:bodyPr wrap="square" lIns="72000" tIns="36000" rIns="72000" bIns="36000" anchor="t"/>
          <a:lstStyle/>
          <a:p>
            <a:pPr algn="l">
              <a:spcAft>
                <a:spcPts val="200"/>
              </a:spcAft>
            </a:pPr>
            <a:r>
              <a:rPr lang="en-US" sz="1400" b="1" dirty="0">
                <a:solidFill>
                  <a:srgbClr val="2D4A3E"/>
                </a:solidFill>
                <a:latin typeface="Avara"/>
              </a:rPr>
              <a:t>Family and Life</a:t>
            </a:r>
          </a:p>
          <a:p>
            <a:pPr algn="l">
              <a:spcAft>
                <a:spcPts val="200"/>
              </a:spcAft>
            </a:pPr>
            <a:r>
              <a:rPr lang="en-US" sz="1000" dirty="0">
                <a:solidFill>
                  <a:srgbClr val="1A1A1A"/>
                </a:solidFill>
                <a:latin typeface="IM FELL English Roman"/>
              </a:rPr>
              <a:t>Married? Kids? Parents alive? Quick family tree</a:t>
            </a:r>
          </a:p>
          <a:p>
            <a:pPr algn="l"/>
            <a:r>
              <a:rPr lang="en-US" sz="900" i="1" dirty="0">
                <a:solidFill>
                  <a:srgbClr val="666666"/>
                </a:solidFill>
                <a:latin typeface="IM FELL English Roman"/>
              </a:rPr>
              <a:t>p.31  |  ~5 min</a:t>
            </a:r>
          </a:p>
        </p:txBody>
      </p:sp>
      <p:sp>
        <p:nvSpPr>
          <p:cNvPr id="17" name="Phase12"/>
          <p:cNvSpPr txBox="1"/>
          <p:nvPr/>
        </p:nvSpPr>
        <p:spPr>
          <a:xfrm>
            <a:off x="9169977" y="3747972"/>
            <a:ext cx="1500000" cy="800702"/>
          </a:xfrm>
          <a:prstGeom prst="rect">
            <a:avLst/>
          </a:prstGeom>
          <a:solidFill>
            <a:srgbClr val="F4E8D2">
              <a:alpha val="76078"/>
            </a:srgbClr>
          </a:solidFill>
        </p:spPr>
        <p:txBody>
          <a:bodyPr wrap="square" lIns="72000" tIns="36000" rIns="72000" bIns="36000" anchor="t"/>
          <a:lstStyle/>
          <a:p>
            <a:pPr algn="l">
              <a:spcAft>
                <a:spcPts val="200"/>
              </a:spcAft>
            </a:pPr>
            <a:r>
              <a:rPr lang="en-US" sz="1400" b="1" dirty="0">
                <a:solidFill>
                  <a:srgbClr val="2D4A3E"/>
                </a:solidFill>
                <a:latin typeface="Avara"/>
              </a:rPr>
              <a:t>Turn 8: Homes</a:t>
            </a:r>
          </a:p>
          <a:p>
            <a:pPr algn="l">
              <a:spcAft>
                <a:spcPts val="200"/>
              </a:spcAft>
            </a:pPr>
            <a:r>
              <a:rPr lang="en-US" sz="1000" dirty="0">
                <a:solidFill>
                  <a:srgbClr val="1A1A1A"/>
                </a:solidFill>
                <a:latin typeface="IM FELL English Roman"/>
              </a:rPr>
              <a:t>Add each PC home to the steading map</a:t>
            </a:r>
          </a:p>
          <a:p>
            <a:pPr algn="l"/>
            <a:r>
              <a:rPr lang="en-US" sz="900" i="1" dirty="0">
                <a:solidFill>
                  <a:srgbClr val="666666"/>
                </a:solidFill>
                <a:latin typeface="IM FELL English Roman"/>
              </a:rPr>
              <a:t>p.31  |  ~5 min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2286000"/>
            <a:ext cx="10972800" cy="18288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4800" b="1">
                <a:solidFill>
                  <a:srgbClr val="2D4A3E"/>
                </a:solidFill>
                <a:latin typeface="Avara" pitchFamily="34" charset="0"/>
                <a:ea typeface="Avara" pitchFamily="34" charset="-122"/>
                <a:cs typeface="Avara" pitchFamily="34" charset="-120"/>
              </a:rPr>
              <a:t>Let Spring Burst Forth!</a:t>
            </a:r>
            <a:endParaRPr lang="en-US" sz="4800" dirty="0"/>
          </a:p>
        </p:txBody>
      </p:sp>
      <p:sp>
        <p:nvSpPr>
          <p:cNvPr id="3" name="Text 1"/>
          <p:cNvSpPr/>
          <p:nvPr/>
        </p:nvSpPr>
        <p:spPr>
          <a:xfrm>
            <a:off x="457200" y="4114800"/>
            <a:ext cx="10972800" cy="9144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lgn="ctr">
              <a:buNone/>
            </a:pPr>
            <a:r>
              <a:rPr lang="en-US" sz="2000">
                <a:solidFill>
                  <a:srgbClr val="1A1A1A"/>
                </a:solidFill>
                <a:latin typeface="IM Fell English" pitchFamily="34" charset="0"/>
                <a:ea typeface="IM Fell English" pitchFamily="34" charset="-122"/>
                <a:cs typeface="IM Fell English" pitchFamily="34" charset="-120"/>
              </a:rPr>
              <a:t>Roll +Fortunes (2d6+1)</a:t>
            </a:r>
            <a:endParaRPr lang="en-US" sz="2000" dirty="0"/>
          </a:p>
        </p:txBody>
      </p:sp>
      <p:pic>
        <p:nvPicPr>
          <p:cNvPr id="126" name="Accent 26"/>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64008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a:solidFill>
                  <a:srgbClr val="2D4A3E"/>
                </a:solidFill>
                <a:latin typeface="Avara" pitchFamily="34" charset="0"/>
                <a:ea typeface="Avara" pitchFamily="34" charset="-122"/>
                <a:cs typeface="Avara" pitchFamily="34" charset="-120"/>
              </a:rPr>
              <a:t>Value &amp; Coins (Appendix)</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857882659"/>
              </p:ext>
            </p:extLst>
          </p:nvPr>
        </p:nvGraphicFramePr>
        <p:xfrm>
          <a:off x="457200" y="1097280"/>
          <a:ext cx="10972800" cy="3200400"/>
        </p:xfrm>
        <a:graphic>
          <a:graphicData uri="http://schemas.openxmlformats.org/drawingml/2006/table">
            <a:tbl>
              <a:tblPr/>
              <a:tblGrid>
                <a:gridCol w="914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33400">
                <a:tc>
                  <a:txBody>
                    <a:bodyPr/>
                    <a:lstStyle/>
                    <a:p>
                      <a:pPr marL="0" indent="0">
                        <a:buNone/>
                      </a:pPr>
                      <a:r>
                        <a:rPr lang="en-US" sz="1300" b="1">
                          <a:solidFill>
                            <a:srgbClr val="1A1A1A"/>
                          </a:solidFill>
                          <a:latin typeface="IM Fell English" pitchFamily="34" charset="0"/>
                          <a:ea typeface="IM Fell English" pitchFamily="34" charset="-122"/>
                          <a:cs typeface="IM Fell English" pitchFamily="34" charset="-120"/>
                        </a:rPr>
                        <a:t>Value</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b="1">
                          <a:solidFill>
                            <a:srgbClr val="1A1A1A"/>
                          </a:solidFill>
                          <a:latin typeface="IM Fell English" pitchFamily="34" charset="0"/>
                          <a:ea typeface="IM Fell English" pitchFamily="34" charset="-122"/>
                          <a:cs typeface="IM Fell English" pitchFamily="34" charset="-120"/>
                        </a:rPr>
                        <a:t>Worth roughly...</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b="1">
                          <a:solidFill>
                            <a:srgbClr val="1A1A1A"/>
                          </a:solidFill>
                          <a:latin typeface="IM Fell English" pitchFamily="34" charset="0"/>
                          <a:ea typeface="IM Fell English" pitchFamily="34" charset="-122"/>
                          <a:cs typeface="IM Fell English" pitchFamily="34" charset="-120"/>
                        </a:rPr>
                        <a:t>Coin equivalent</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0"/>
                  </a:ext>
                </a:extLst>
              </a:tr>
              <a:tr h="533400">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0</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A favor, common item, a few days labor</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Purse of coppers / 1 silver</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1</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Season of unskilled labor, unit of trade goods</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Handful of silvers</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533400">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2</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Year of unskilled labor, cartload of goods, 1 Surplus</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Purse of silvers / 1 gold</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533400">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3</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Year of skilled labor, a good horse</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Handful of golds</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r h="533400">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4</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A dozen horses, a “priceless” item</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300">
                          <a:solidFill>
                            <a:srgbClr val="1A1A1A"/>
                          </a:solidFill>
                          <a:latin typeface="IM Fell English" pitchFamily="34" charset="0"/>
                          <a:ea typeface="IM Fell English" pitchFamily="34" charset="-122"/>
                          <a:cs typeface="IM Fell English" pitchFamily="34" charset="-120"/>
                        </a:rPr>
                        <a:t>Purse of golds</a:t>
                      </a:r>
                      <a:endParaRPr lang="en-US" sz="1300">
                        <a:latin typeface="Georgia" charset="0"/>
                        <a:ea typeface="Georgia" charset="0"/>
                        <a:cs typeface="Georgia"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457200" y="4572000"/>
            <a:ext cx="10972800" cy="182880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1300" i="1" dirty="0">
                <a:solidFill>
                  <a:srgbClr val="1A1A1A"/>
                </a:solidFill>
                <a:latin typeface="IM Fell English" pitchFamily="34" charset="0"/>
                <a:ea typeface="IM Fell English" pitchFamily="34" charset="-122"/>
                <a:cs typeface="IM Fell English" pitchFamily="34" charset="-120"/>
              </a:rPr>
              <a:t>Coins: individual → handful (~10) → purse (~100)</a:t>
            </a:r>
            <a:endParaRPr lang="en-US" sz="1300" dirty="0"/>
          </a:p>
          <a:p>
            <a:pPr marL="0" indent="0">
              <a:buNone/>
            </a:pPr>
            <a:r>
              <a:rPr lang="en-US" sz="1300" i="1" dirty="0">
                <a:solidFill>
                  <a:srgbClr val="1A1A1A"/>
                </a:solidFill>
                <a:latin typeface="IM Fell English" pitchFamily="34" charset="0"/>
                <a:ea typeface="IM Fell English" pitchFamily="34" charset="-122"/>
                <a:cs typeface="IM Fell English" pitchFamily="34" charset="-120"/>
              </a:rPr>
              <a:t>1 silver ≈ 100 coppers  |  1 gold ≈ 100 silvers</a:t>
            </a:r>
            <a:endParaRPr lang="en-US" sz="1300" dirty="0"/>
          </a:p>
          <a:p>
            <a:pPr marL="0" indent="0">
              <a:buNone/>
            </a:pPr>
            <a:r>
              <a:rPr lang="en-US" sz="1300" i="1" dirty="0">
                <a:solidFill>
                  <a:srgbClr val="1A1A1A"/>
                </a:solidFill>
                <a:latin typeface="IM Fell English" pitchFamily="34" charset="0"/>
                <a:ea typeface="IM Fell English" pitchFamily="34" charset="-122"/>
                <a:cs typeface="IM Fell English" pitchFamily="34" charset="-120"/>
              </a:rPr>
              <a:t>Stonetop runs on barter, favors, and honor — coins are for outsiders.</a:t>
            </a:r>
            <a:endParaRPr lang="en-US" sz="1300" dirty="0"/>
          </a:p>
        </p:txBody>
      </p:sp>
      <p:pic>
        <p:nvPicPr>
          <p:cNvPr id="113" name="Accent 13"/>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182880"/>
            <a:ext cx="10972800" cy="548640"/>
          </a:xfrm>
          <a:prstGeom prst="rect">
            <a:avLst/>
          </a:prstGeom>
          <a:noFill/>
          <a:ln/>
          <a:effectLst>
            <a:outerShdw blurRad="40000" dist="20000" dir="5400000" rotWithShape="0">
              <a:srgbClr val="000000">
                <a:alpha val="38000"/>
              </a:srgbClr>
            </a:outerShdw>
          </a:effectLst>
          <a:scene3d>
            <a:camera prst="orthographicFront"/>
            <a:lightRig rig="threePt" dir="t"/>
          </a:scene3d>
          <a:sp3d>
            <a:bevelT w="63500" h="25400"/>
          </a:sp3d>
        </p:spPr>
        <p:txBody>
          <a:bodyPr wrap="square" rtlCol="0" anchor="ctr"/>
          <a:lstStyle/>
          <a:p>
            <a:pPr marL="0" indent="0">
              <a:buNone/>
            </a:pPr>
            <a:r>
              <a:rPr lang="en-US" sz="2800" b="1">
                <a:solidFill>
                  <a:srgbClr val="2D4A3E"/>
                </a:solidFill>
                <a:latin typeface="Avara" pitchFamily="34" charset="0"/>
                <a:ea typeface="Avara" pitchFamily="34" charset="-122"/>
                <a:cs typeface="Avara" pitchFamily="34" charset="-120"/>
              </a:rPr>
              <a:t>Tags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01086359"/>
              </p:ext>
            </p:extLst>
          </p:nvPr>
        </p:nvGraphicFramePr>
        <p:xfrm>
          <a:off x="274320" y="822960"/>
          <a:ext cx="11430000" cy="5486404"/>
        </p:xfrm>
        <a:graphic>
          <a:graphicData uri="http://schemas.openxmlformats.org/drawingml/2006/table">
            <a:tbl>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498764">
                <a:tc>
                  <a:txBody>
                    <a:bodyPr/>
                    <a:lstStyle/>
                    <a:p>
                      <a:pPr marL="0" indent="0">
                        <a:buNone/>
                      </a:pPr>
                      <a:r>
                        <a:rPr lang="en-US" sz="1100" b="1">
                          <a:solidFill>
                            <a:srgbClr val="1A1A1A"/>
                          </a:solidFill>
                          <a:latin typeface="IM Fell English" pitchFamily="34" charset="0"/>
                          <a:ea typeface="IM Fell English" pitchFamily="34" charset="-122"/>
                          <a:cs typeface="IM Fell English" pitchFamily="34" charset="-120"/>
                        </a:rPr>
                        <a:t>Range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b="1">
                          <a:solidFill>
                            <a:srgbClr val="1A1A1A"/>
                          </a:solidFill>
                          <a:latin typeface="IM Fell English" pitchFamily="34" charset="0"/>
                          <a:ea typeface="IM Fell English" pitchFamily="34" charset="-122"/>
                          <a:cs typeface="IM Fell English" pitchFamily="34" charset="-120"/>
                        </a:rPr>
                        <a:t>Weapon/Item</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hand</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Tight quarters</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area</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Hits everything nearby</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close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1-2 steps</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forceful</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Knocks people around</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reach</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3-4 steps</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messy</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Rips things apart</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near</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~30 steps</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awkward</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Unwieldy, gets stuck</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far</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100+ steps</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reload</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Takes time to reset</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498764">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slow</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Useless in a fight</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498764">
                <a:tc>
                  <a:txBody>
                    <a:bodyPr/>
                    <a:lstStyle/>
                    <a:p>
                      <a:pPr marL="0" indent="0">
                        <a:buNone/>
                      </a:pPr>
                      <a:r>
                        <a:rPr lang="en-US" sz="1100" b="1">
                          <a:solidFill>
                            <a:srgbClr val="1A1A1A"/>
                          </a:solidFill>
                          <a:latin typeface="IM Fell English" pitchFamily="34" charset="0"/>
                          <a:ea typeface="IM Fell English" pitchFamily="34" charset="-122"/>
                          <a:cs typeface="IM Fell English" pitchFamily="34" charset="-120"/>
                        </a:rPr>
                        <a:t>Mechanical</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endParaRPr lang="en-US" sz="1100" dirty="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n armor</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Subtract n from damage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fragile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Easy to break</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+1 armor</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Stacks on base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crude</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Prone to wear out</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9"/>
                  </a:ext>
                </a:extLst>
              </a:tr>
              <a:tr h="498764">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n piercing</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Ignore n armor</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warm</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tc>
                  <a:txBody>
                    <a:bodyPr/>
                    <a:lstStyle/>
                    <a:p>
                      <a:pPr marL="0" indent="0">
                        <a:buNone/>
                      </a:pPr>
                      <a:r>
                        <a:rPr lang="en-US" sz="1100">
                          <a:solidFill>
                            <a:srgbClr val="1A1A1A"/>
                          </a:solidFill>
                          <a:latin typeface="IM Fell English" pitchFamily="34" charset="0"/>
                          <a:ea typeface="IM Fell English" pitchFamily="34" charset="-122"/>
                          <a:cs typeface="IM Fell English" pitchFamily="34" charset="-120"/>
                        </a:rPr>
                        <a:t>Keeps you warm</a:t>
                      </a:r>
                      <a:endParaRPr lang="en-US" sz="1100">
                        <a:latin typeface="Georgia" charset="0"/>
                        <a:ea typeface="Georgia" charset="0"/>
                        <a:cs typeface="Georgia" charset="0"/>
                      </a:endParaRPr>
                    </a:p>
                  </a:txBody>
                  <a:tcP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ption 1 - Tight Grid"/>
          <p:cNvPicPr>
            <a:picLocks noChangeAspect="1"/>
          </p:cNvPicPr>
          <p:nvPr/>
        </p:nvPicPr>
        <p:blipFill>
          <a:blip r:embed="rId2"/>
          <a:srcRect t="7813" b="7813"/>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ption 3 - Map Style"/>
          <p:cNvPicPr>
            <a:picLocks noChangeAspect="1"/>
          </p:cNvPicPr>
          <p:nvPr/>
        </p:nvPicPr>
        <p:blipFill>
          <a:blip r:embed="rId2"/>
          <a:srcRect t="7813" b="781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903</TotalTime>
  <Words>1827</Words>
  <Application>Microsoft Office PowerPoint</Application>
  <PresentationFormat>Widescreen</PresentationFormat>
  <Paragraphs>277</Paragraphs>
  <Slides>17</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Avara</vt:lpstr>
      <vt:lpstr>Avara Bold</vt:lpstr>
      <vt:lpstr>Georgia</vt:lpstr>
      <vt:lpstr>Im fell english</vt:lpstr>
      <vt:lpstr>Im fell english</vt:lpstr>
      <vt:lpstr>IM FELL English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Matt Rollins (NAYAMODE INC)</cp:lastModifiedBy>
  <cp:revision>17</cp:revision>
  <dcterms:created xsi:type="dcterms:W3CDTF">2026-05-30T03:12:00Z</dcterms:created>
  <dcterms:modified xsi:type="dcterms:W3CDTF">2026-05-31T07:16:19Z</dcterms:modified>
</cp:coreProperties>
</file>